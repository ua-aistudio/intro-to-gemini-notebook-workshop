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360" r:id="rId3"/>
    <p:sldId id="320" r:id="rId4"/>
    <p:sldId id="367" r:id="rId5"/>
    <p:sldId id="310" r:id="rId6"/>
    <p:sldId id="331" r:id="rId7"/>
    <p:sldId id="368" r:id="rId8"/>
    <p:sldId id="313" r:id="rId9"/>
    <p:sldId id="290" r:id="rId10"/>
    <p:sldId id="330" r:id="rId11"/>
    <p:sldId id="349" r:id="rId12"/>
    <p:sldId id="327" r:id="rId13"/>
    <p:sldId id="343" r:id="rId14"/>
    <p:sldId id="293" r:id="rId15"/>
    <p:sldId id="295" r:id="rId16"/>
    <p:sldId id="296" r:id="rId17"/>
    <p:sldId id="269" r:id="rId18"/>
    <p:sldId id="297" r:id="rId19"/>
    <p:sldId id="298" r:id="rId20"/>
    <p:sldId id="299" r:id="rId21"/>
    <p:sldId id="300" r:id="rId22"/>
    <p:sldId id="301" r:id="rId23"/>
    <p:sldId id="302" r:id="rId24"/>
    <p:sldId id="303" r:id="rId25"/>
    <p:sldId id="304" r:id="rId26"/>
    <p:sldId id="278"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3" autoAdjust="0"/>
    <p:restoredTop sz="94610"/>
  </p:normalViewPr>
  <p:slideViewPr>
    <p:cSldViewPr snapToGrid="0" snapToObjects="1">
      <p:cViewPr varScale="1">
        <p:scale>
          <a:sx n="66" d="100"/>
          <a:sy n="66" d="100"/>
        </p:scale>
        <p:origin x="39" y="5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939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Introduce yourself and the AI+ Studio. Today is a hands-on tour of Gemini Notebook, the tool formerly called NotebookLM, which turns your own class materials into cited answers and study tools. Ask people to open their laptops.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plug for the AI+ Studio. Four ways we help: local LLMs on Studio laptops (great for trying AI with no limits and full privacy), the Ask Us @AI desk and 1:1 appointments at lbry-aistudio@arizona.edu, weekly workshops and drop-ins, and partnerships for faculty, staff and campus groups who want their own AI sessions or a game-show style AI challenge.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parts. Everyone should open notebook.google.com now and sign in with their UA NetID so they can follow along. If a login fails, they can watch the screen and try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meme. At San Diego Comic-Con 2024, Robert Downey Jr., who played Iron Man for over a decade, was revealed as Doctor Doom and told the crowd: new mask, same task. Same thing here. On July 16, 2026, Google renamed NotebookLM to Gemini Notebook. Same product underneath: your notebooks, sources and features carry over, and old links redirect to notebook.google.com. Tutorials online will still say NotebookLM, so both names are fine.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Play 1 to 2 minutes of a pre-made Audio Overview. Ask the room to guess how long it took to make (answer: a few minutes, one click). Then say: by the end of today, you'll make one of these from your own notes.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Notebook is a free AI research and note-taking app from Google. Who: built inside Google Labs, Google's group for AI experiments; bestselling author Steven Johnson has been on the team since the start. When: shown at Google I/O in May 2023 as Project Tailwind, launched as NotebookLM that July, renamed in July 2026. What powers it: Google's Gemini models. Bottom row: what you can upload, where you chat, and what you get out.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run on Gemini, but they're built for different jobs. Gemini Notebook is locked onto the sources you upload, answers only from them, cites the exact passage automatically, and has one-click study tools. The regular Gemini app is a general assistant: it draws on everything it learned in training, cites only when it searches or you ask, and needs more prompting to build study material. You can also attach a notebook to a Gemini app chat.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brand new notebook looks like. Three sections: Sources on the left for everything you add, Chat in the middle for questions, and Studio on the right for one-click outputs like Audio Overviews and quizzes. Point out the Add sources button and the Fast Research search box.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uploading files, the Sources panel can find material for you. Fast Research (since Nov 2025) searches the web and your Google Drive and gives quick picks. Deep Research searches the web only on our plan and writes a full report with suggested sources. Either way, you choose what gets imported.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uploading files, the Sources panel can find material for you. Fast Research (since Nov 2025) searches the web and your Google Drive and gives quick picks. Deep Research searches the web only on our plan and writes a full report with suggested sources. Either way, you choose what gets imported.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of Deep Research. 1: type the topic in the Sources search box and switch Fast Research to Deep Research. 2: it browses websites. 3: it writes a report. 4: review the report, see which sources were cited (14 here) and which weren't, tick what you want and hit Import. The report itself becomes a source.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to note sits under every answer and pins it to the Studio panel as a note, so you don't have to scroll back through chat. From a note's three-dot menu you can export it to Docs or Sheets (for notes Gemini created; notes you type yourself can't be exported) or convert it to a source. Ask the audience: why might turning notes into sources be useful? (It builds up context, so future answers get smarter.)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Configure chat. Default is best for general research and brainstorming. Learning Guide is tutor mode: it works through the ideas with you instead of handing over the answer. Custom lets you set a role or style, like respond at a PhD level, up to 10,000 characters. You can also pick response length: default, longer or shorter.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everyone three minutes. Walk the room. Point out that Learning Guide asks you questions back instead of dumping the answer. If people don't have their own materials, use the shared demo notebook.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Studio has nine generators: Audio Overview, Slide Deck, Video Overview, Mind Map, Reports, Flashcards, Quiz, Infographic and Data Table. Each one can be customized with instructions. Start an Audio or Video Overview now so it's ready later.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formats: Deep Dive (two hosts unpack and connect topics), Brief (quick overview), Critique (expert feedback on your material) and Debate (two perspectives). Pick language, length, which sources and a focus. The AI Usage bar shows how much a generation will cost; if you're running low, hit Generate later. Interactive mode lets you join the episode and ask the hosts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Overview: narrated explainer; new 60-second Short Video Overviews in 80+ languages. Mind Map: click any node to ask about it. Infographic: pick a style. Slide Deck: revise per slide and export as PDF or PPTX.</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Flashcards: set count and difficulty, mark Got it or Missed it, rerun missed cards. Quiz: set count and difficulty; new formats are rolling out. After a quiz, ask the chat how you did to find weak spots. You can edit or add your own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study guide, briefing doc, or a custom format; new interactive learning overview combines a summary, infographic, quiz and flashcards. Data Table: pulls facts from all sources into a table with citations, then Export to Sheets.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full notebook or chat-only (they can ask questions but can't see your sources). Copy a notebook duplicates sources and Studio outputs but not chat history or personal notes. Chat history is always private.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cuts errors but doesn't remove them, so click citations. Many readings are licensed, so don't upload them without permission. Use your UA NetID so education data protections apply. Check each course's AI policy. Ask before recording lectures. Label AI-made visuals in presentations.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people to screenshot this slide. More ideas: compare mitosis and meiosis in a table; what in these sources contradicts itself; write questions in the style of the past exam I added.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Point people to the Ask Us @AI desk and lbry-aistudio@arizona.edu for follow-up help, and ask them to fill in the feedback survey before they leave.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hyperlink" Target="https://genai.arizona.edu/" TargetMode="Externa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notebook.google.com/notebook/df45eb76-5cfd-4112-9818-166700e30f13"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 // AI+ STUDIO WORKSHOP Gemini Notebook formerly NotebookLM Your AI research and study partner, grounded in your own sources Sharaan Thayanithi AI+ Studio · University of Arizona Libraries notebook.google.com"/>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gradFill rotWithShape="1">
          <a:gsLst>
            <a:gs pos="0">
              <a:srgbClr val="0A1230"/>
            </a:gs>
            <a:gs pos="55000">
              <a:srgbClr val="080C22"/>
            </a:gs>
            <a:gs pos="100000">
              <a:srgbClr val="150F38"/>
            </a:gs>
          </a:gsLst>
          <a:lin ang="5400000" scaled="0"/>
        </a:gradFill>
        <a:effectLst/>
      </p:bgPr>
    </p:bg>
    <p:spTree>
      <p:nvGrpSpPr>
        <p:cNvPr id="1" name=""/>
        <p:cNvGrpSpPr/>
        <p:nvPr/>
      </p:nvGrpSpPr>
      <p:grpSpPr>
        <a:xfrm>
          <a:off x="0" y="0"/>
          <a:ext cx="0" cy="0"/>
          <a:chOff x="0" y="0"/>
          <a:chExt cx="0" cy="0"/>
        </a:xfrm>
      </p:grpSpPr>
      <p:sp>
        <p:nvSpPr>
          <p:cNvPr id="1001" name="Top accent line"/>
          <p:cNvSpPr/>
          <p:nvPr/>
        </p:nvSpPr>
        <p:spPr>
          <a:xfrm>
            <a:off x="0" y="0"/>
            <a:ext cx="12192000" cy="38100"/>
          </a:xfrm>
          <a:prstGeom prst="rect">
            <a:avLst/>
          </a:prstGeom>
          <a:gradFill>
            <a:gsLst>
              <a:gs pos="0">
                <a:srgbClr val="38C8F0"/>
              </a:gs>
              <a:gs pos="100000">
                <a:srgbClr val="8B6CE0"/>
              </a:gs>
            </a:gsLst>
            <a:lin ang="0" scaled="0"/>
          </a:gradFill>
          <a:ln>
            <a:noFill/>
          </a:ln>
        </p:spPr>
        <p:txBody>
          <a:bodyPr/>
          <a:lstStyle/>
          <a:p>
            <a:endParaRPr lang="en-US"/>
          </a:p>
        </p:txBody>
      </p:sp>
      <p:sp>
        <p:nvSpPr>
          <p:cNvPr id="1002" name="Footer"/>
          <p:cNvSpPr txBox="1"/>
          <p:nvPr/>
        </p:nvSpPr>
        <p:spPr>
          <a:xfrm>
            <a:off x="812800" y="6235700"/>
            <a:ext cx="6350000" cy="203200"/>
          </a:xfrm>
          <a:prstGeom prst="rect">
            <a:avLst/>
          </a:prstGeom>
          <a:noFill/>
        </p:spPr>
        <p:txBody>
          <a:bodyPr wrap="square" lIns="0" tIns="0" rIns="0" bIns="0" anchor="ctr">
            <a:noAutofit/>
          </a:bodyPr>
          <a:lstStyle/>
          <a:p>
            <a:pPr algn="l"/>
            <a:r>
              <a:rPr lang="en-US" sz="1200" b="0" spc="100" dirty="0">
                <a:solidFill>
                  <a:srgbClr val="8A93B2"/>
                </a:solidFill>
                <a:latin typeface="Consolas"/>
                <a:cs typeface="Consolas"/>
              </a:rPr>
              <a:t>GEMINI NOTEBOOK WORKSHOP · AI+ STUDIO</a:t>
            </a:r>
          </a:p>
        </p:txBody>
      </p:sp>
      <p:sp>
        <p:nvSpPr>
          <p:cNvPr id="1003" name="Eyebrow"/>
          <p:cNvSpPr txBox="1"/>
          <p:nvPr/>
        </p:nvSpPr>
        <p:spPr>
          <a:xfrm>
            <a:off x="812800" y="812800"/>
            <a:ext cx="6350000" cy="228600"/>
          </a:xfrm>
          <a:prstGeom prst="rect">
            <a:avLst/>
          </a:prstGeom>
          <a:noFill/>
        </p:spPr>
        <p:txBody>
          <a:bodyPr wrap="square" lIns="0" tIns="0" rIns="0" bIns="0" anchor="ctr">
            <a:noAutofit/>
          </a:bodyPr>
          <a:lstStyle/>
          <a:p>
            <a:pPr algn="l"/>
            <a:r>
              <a:rPr lang="en-US" sz="1200" b="1" spc="150" dirty="0">
                <a:solidFill>
                  <a:srgbClr val="38C8F0"/>
                </a:solidFill>
                <a:latin typeface="Consolas"/>
                <a:cs typeface="Consolas"/>
              </a:rPr>
              <a:t>// WHO WE ARE</a:t>
            </a:r>
          </a:p>
        </p:txBody>
      </p:sp>
      <p:sp>
        <p:nvSpPr>
          <p:cNvPr id="1004" name="Title"/>
          <p:cNvSpPr txBox="1"/>
          <p:nvPr/>
        </p:nvSpPr>
        <p:spPr>
          <a:xfrm>
            <a:off x="812800" y="1117600"/>
            <a:ext cx="10566400" cy="508000"/>
          </a:xfrm>
          <a:prstGeom prst="rect">
            <a:avLst/>
          </a:prstGeom>
          <a:noFill/>
        </p:spPr>
        <p:txBody>
          <a:bodyPr wrap="square" lIns="0" tIns="0" rIns="0" bIns="0" anchor="ctr">
            <a:noAutofit/>
          </a:bodyPr>
          <a:lstStyle/>
          <a:p>
            <a:pPr algn="l"/>
            <a:r>
              <a:rPr lang="en-US" sz="3600" b="1" dirty="0">
                <a:solidFill>
                  <a:srgbClr val="F2F5FF"/>
                </a:solidFill>
                <a:latin typeface="DM Sans"/>
                <a:cs typeface="DM Sans"/>
              </a:rPr>
              <a:t>The AI+ Studio: how we help you</a:t>
            </a:r>
          </a:p>
        </p:txBody>
      </p:sp>
      <p:sp>
        <p:nvSpPr>
          <p:cNvPr id="1005" name="Subtitle"/>
          <p:cNvSpPr txBox="1"/>
          <p:nvPr/>
        </p:nvSpPr>
        <p:spPr>
          <a:xfrm>
            <a:off x="812800" y="1701800"/>
            <a:ext cx="10566400" cy="330200"/>
          </a:xfrm>
          <a:prstGeom prst="rect">
            <a:avLst/>
          </a:prstGeom>
          <a:noFill/>
        </p:spPr>
        <p:txBody>
          <a:bodyPr wrap="square" lIns="0" tIns="0" rIns="0" bIns="0" anchor="ctr">
            <a:noAutofit/>
          </a:bodyPr>
          <a:lstStyle/>
          <a:p>
            <a:pPr algn="l"/>
            <a:r>
              <a:rPr lang="en-US" sz="1600" b="0" dirty="0">
                <a:solidFill>
                  <a:srgbClr val="A9B1D1"/>
                </a:solidFill>
                <a:latin typeface="DM Sans"/>
                <a:cs typeface="DM Sans"/>
              </a:rPr>
              <a:t>Harness the power of generative AI for innovation, learning, and discovery.</a:t>
            </a:r>
          </a:p>
        </p:txBody>
      </p:sp>
      <p:sp>
        <p:nvSpPr>
          <p:cNvPr id="1101" name="Highlight row"/>
          <p:cNvSpPr/>
          <p:nvPr/>
        </p:nvSpPr>
        <p:spPr>
          <a:xfrm>
            <a:off x="660400" y="2235200"/>
            <a:ext cx="10871200" cy="863600"/>
          </a:xfrm>
          <a:prstGeom prst="roundRect">
            <a:avLst>
              <a:gd name="adj" fmla="val 12000"/>
            </a:avLst>
          </a:prstGeom>
          <a:gradFill>
            <a:gsLst>
              <a:gs pos="0">
                <a:srgbClr val="2B2F82"/>
              </a:gs>
              <a:gs pos="100000">
                <a:srgbClr val="46297E"/>
              </a:gs>
            </a:gsLst>
            <a:lin ang="0" scaled="0"/>
          </a:gradFill>
          <a:ln w="15875">
            <a:solidFill>
              <a:srgbClr val="5B63D6"/>
            </a:solidFill>
          </a:ln>
        </p:spPr>
        <p:txBody>
          <a:bodyPr/>
          <a:lstStyle/>
          <a:p>
            <a:endParaRPr lang="en-US"/>
          </a:p>
        </p:txBody>
      </p:sp>
      <p:sp>
        <p:nvSpPr>
          <p:cNvPr id="1102" name="Use our local LLMs heading"/>
          <p:cNvSpPr txBox="1"/>
          <p:nvPr/>
        </p:nvSpPr>
        <p:spPr>
          <a:xfrm>
            <a:off x="1473200" y="2235200"/>
            <a:ext cx="3302000" cy="863600"/>
          </a:xfrm>
          <a:prstGeom prst="rect">
            <a:avLst/>
          </a:prstGeom>
          <a:noFill/>
        </p:spPr>
        <p:txBody>
          <a:bodyPr wrap="square" lIns="0" tIns="0" rIns="0" bIns="0" anchor="ctr">
            <a:noAutofit/>
          </a:bodyPr>
          <a:lstStyle/>
          <a:p>
            <a:pPr algn="l"/>
            <a:r>
              <a:rPr lang="en-US" sz="2000" b="1" dirty="0">
                <a:solidFill>
                  <a:srgbClr val="F2F5FF"/>
                </a:solidFill>
                <a:latin typeface="DM Sans"/>
                <a:cs typeface="DM Sans"/>
              </a:rPr>
              <a:t>Use our local LLMs</a:t>
            </a:r>
          </a:p>
        </p:txBody>
      </p:sp>
      <p:sp>
        <p:nvSpPr>
          <p:cNvPr id="1103" name="Use our local LLMs text"/>
          <p:cNvSpPr txBox="1"/>
          <p:nvPr/>
        </p:nvSpPr>
        <p:spPr>
          <a:xfrm>
            <a:off x="5080000" y="2235200"/>
            <a:ext cx="6146800" cy="863600"/>
          </a:xfrm>
          <a:prstGeom prst="rect">
            <a:avLst/>
          </a:prstGeom>
          <a:noFill/>
        </p:spPr>
        <p:txBody>
          <a:bodyPr wrap="square" lIns="0" tIns="0" rIns="0" bIns="0" anchor="ctr">
            <a:noAutofit/>
          </a:bodyPr>
          <a:lstStyle/>
          <a:p>
            <a:pPr algn="l"/>
            <a:r>
              <a:rPr lang="en-US" sz="1600" b="0" dirty="0">
                <a:solidFill>
                  <a:srgbClr val="D5DAF0"/>
                </a:solidFill>
                <a:latin typeface="DM Sans"/>
                <a:cs typeface="DM Sans"/>
              </a:rPr>
              <a:t>Studio laptops run small AI models </a:t>
            </a:r>
            <a:r>
              <a:rPr lang="en-US" sz="1600" b="1" dirty="0">
                <a:solidFill>
                  <a:srgbClr val="F2F5FF"/>
                </a:solidFill>
                <a:latin typeface="DM Sans"/>
                <a:cs typeface="DM Sans"/>
              </a:rPr>
              <a:t>offline</a:t>
            </a:r>
            <a:r>
              <a:rPr lang="en-US" sz="1600" b="0" dirty="0">
                <a:solidFill>
                  <a:srgbClr val="D5DAF0"/>
                </a:solidFill>
                <a:latin typeface="DM Sans"/>
                <a:cs typeface="DM Sans"/>
              </a:rPr>
              <a:t>. </a:t>
            </a:r>
            <a:r>
              <a:rPr lang="en-US" sz="1600" b="1" dirty="0">
                <a:solidFill>
                  <a:srgbClr val="F2F5FF"/>
                </a:solidFill>
                <a:latin typeface="DM Sans"/>
                <a:cs typeface="DM Sans"/>
              </a:rPr>
              <a:t>No token limits</a:t>
            </a:r>
            <a:r>
              <a:rPr lang="en-US" sz="1600" b="0" dirty="0">
                <a:solidFill>
                  <a:srgbClr val="D5DAF0"/>
                </a:solidFill>
                <a:latin typeface="DM Sans"/>
                <a:cs typeface="DM Sans"/>
              </a:rPr>
              <a:t>, and your data </a:t>
            </a:r>
            <a:r>
              <a:rPr lang="en-US" sz="1600" b="1" dirty="0">
                <a:solidFill>
                  <a:srgbClr val="F2F5FF"/>
                </a:solidFill>
                <a:latin typeface="DM Sans"/>
                <a:cs typeface="DM Sans"/>
              </a:rPr>
              <a:t>never leaves the machine</a:t>
            </a:r>
            <a:r>
              <a:rPr lang="en-US" sz="1600" b="0" dirty="0">
                <a:solidFill>
                  <a:srgbClr val="D5DAF0"/>
                </a:solidFill>
                <a:latin typeface="DM Sans"/>
                <a:cs typeface="DM Sans"/>
              </a:rPr>
              <a:t>.</a:t>
            </a:r>
          </a:p>
        </p:txBody>
      </p:sp>
      <p:sp>
        <p:nvSpPr>
          <p:cNvPr id="1104" name="Talk to an AI specialist heading"/>
          <p:cNvSpPr txBox="1"/>
          <p:nvPr/>
        </p:nvSpPr>
        <p:spPr>
          <a:xfrm>
            <a:off x="1473200" y="3149600"/>
            <a:ext cx="3302000" cy="863600"/>
          </a:xfrm>
          <a:prstGeom prst="rect">
            <a:avLst/>
          </a:prstGeom>
          <a:noFill/>
        </p:spPr>
        <p:txBody>
          <a:bodyPr wrap="square" lIns="0" tIns="0" rIns="0" bIns="0" anchor="ctr">
            <a:noAutofit/>
          </a:bodyPr>
          <a:lstStyle/>
          <a:p>
            <a:pPr algn="l"/>
            <a:r>
              <a:rPr lang="en-US" sz="2000" b="1" dirty="0">
                <a:solidFill>
                  <a:srgbClr val="F2F5FF"/>
                </a:solidFill>
                <a:latin typeface="DM Sans"/>
                <a:cs typeface="DM Sans"/>
              </a:rPr>
              <a:t>Talk to an AI specialist</a:t>
            </a:r>
          </a:p>
        </p:txBody>
      </p:sp>
      <p:sp>
        <p:nvSpPr>
          <p:cNvPr id="1105" name="Talk to an AI specialist text"/>
          <p:cNvSpPr txBox="1"/>
          <p:nvPr/>
        </p:nvSpPr>
        <p:spPr>
          <a:xfrm>
            <a:off x="5080000" y="3149600"/>
            <a:ext cx="6146800" cy="863600"/>
          </a:xfrm>
          <a:prstGeom prst="rect">
            <a:avLst/>
          </a:prstGeom>
          <a:noFill/>
        </p:spPr>
        <p:txBody>
          <a:bodyPr wrap="square" lIns="0" tIns="0" rIns="0" bIns="0" anchor="ctr">
            <a:noAutofit/>
          </a:bodyPr>
          <a:lstStyle/>
          <a:p>
            <a:pPr algn="l"/>
            <a:r>
              <a:rPr lang="en-US" sz="1600" b="0" dirty="0">
                <a:solidFill>
                  <a:srgbClr val="A9B1D1"/>
                </a:solidFill>
                <a:latin typeface="DM Sans"/>
                <a:cs typeface="DM Sans"/>
              </a:rPr>
              <a:t>Stop by the Ask Us @AI desk outside the Studio, or book a session at lbry-aistudio@arizona.edu.</a:t>
            </a:r>
          </a:p>
        </p:txBody>
      </p:sp>
      <p:sp>
        <p:nvSpPr>
          <p:cNvPr id="1106" name="Divider 1"/>
          <p:cNvSpPr/>
          <p:nvPr/>
        </p:nvSpPr>
        <p:spPr>
          <a:xfrm>
            <a:off x="812800" y="3124200"/>
            <a:ext cx="10566400" cy="12700"/>
          </a:xfrm>
          <a:prstGeom prst="rect">
            <a:avLst/>
          </a:prstGeom>
          <a:solidFill>
            <a:srgbClr val="2A3A6E"/>
          </a:solidFill>
          <a:ln>
            <a:noFill/>
          </a:ln>
        </p:spPr>
        <p:txBody>
          <a:bodyPr/>
          <a:lstStyle/>
          <a:p>
            <a:endParaRPr lang="en-US"/>
          </a:p>
        </p:txBody>
      </p:sp>
      <p:sp>
        <p:nvSpPr>
          <p:cNvPr id="1107" name="Workshops and events heading"/>
          <p:cNvSpPr txBox="1"/>
          <p:nvPr/>
        </p:nvSpPr>
        <p:spPr>
          <a:xfrm>
            <a:off x="1473200" y="4064000"/>
            <a:ext cx="3302000" cy="863600"/>
          </a:xfrm>
          <a:prstGeom prst="rect">
            <a:avLst/>
          </a:prstGeom>
          <a:noFill/>
        </p:spPr>
        <p:txBody>
          <a:bodyPr wrap="square" lIns="0" tIns="0" rIns="0" bIns="0" anchor="ctr">
            <a:noAutofit/>
          </a:bodyPr>
          <a:lstStyle/>
          <a:p>
            <a:pPr algn="l"/>
            <a:r>
              <a:rPr lang="en-US" sz="2000" b="1" dirty="0">
                <a:solidFill>
                  <a:srgbClr val="F2F5FF"/>
                </a:solidFill>
                <a:latin typeface="DM Sans"/>
                <a:cs typeface="DM Sans"/>
              </a:rPr>
              <a:t>Workshops and events</a:t>
            </a:r>
          </a:p>
        </p:txBody>
      </p:sp>
      <p:sp>
        <p:nvSpPr>
          <p:cNvPr id="1108" name="Workshops and events text"/>
          <p:cNvSpPr txBox="1"/>
          <p:nvPr/>
        </p:nvSpPr>
        <p:spPr>
          <a:xfrm>
            <a:off x="5080000" y="4064000"/>
            <a:ext cx="6146800" cy="863600"/>
          </a:xfrm>
          <a:prstGeom prst="rect">
            <a:avLst/>
          </a:prstGeom>
          <a:noFill/>
        </p:spPr>
        <p:txBody>
          <a:bodyPr wrap="square" lIns="0" tIns="0" rIns="0" bIns="0" anchor="ctr">
            <a:noAutofit/>
          </a:bodyPr>
          <a:lstStyle/>
          <a:p>
            <a:pPr algn="l"/>
            <a:r>
              <a:rPr lang="en-US" sz="1600" b="0" dirty="0">
                <a:solidFill>
                  <a:srgbClr val="A9B1D1"/>
                </a:solidFill>
                <a:latin typeface="DM Sans"/>
                <a:cs typeface="DM Sans"/>
              </a:rPr>
              <a:t>New AI tools for student success every week. Drop in, or join a scheduled workshop like this one.</a:t>
            </a:r>
          </a:p>
        </p:txBody>
      </p:sp>
      <p:sp>
        <p:nvSpPr>
          <p:cNvPr id="1109" name="Divider 2"/>
          <p:cNvSpPr/>
          <p:nvPr/>
        </p:nvSpPr>
        <p:spPr>
          <a:xfrm>
            <a:off x="812800" y="4038600"/>
            <a:ext cx="10566400" cy="12700"/>
          </a:xfrm>
          <a:prstGeom prst="rect">
            <a:avLst/>
          </a:prstGeom>
          <a:solidFill>
            <a:srgbClr val="2A3A6E"/>
          </a:solidFill>
          <a:ln>
            <a:noFill/>
          </a:ln>
        </p:spPr>
        <p:txBody>
          <a:bodyPr/>
          <a:lstStyle/>
          <a:p>
            <a:endParaRPr lang="en-US"/>
          </a:p>
        </p:txBody>
      </p:sp>
      <p:sp>
        <p:nvSpPr>
          <p:cNvPr id="1110" name="Partner with us heading"/>
          <p:cNvSpPr txBox="1"/>
          <p:nvPr/>
        </p:nvSpPr>
        <p:spPr>
          <a:xfrm>
            <a:off x="1473200" y="4978400"/>
            <a:ext cx="3302000" cy="863600"/>
          </a:xfrm>
          <a:prstGeom prst="rect">
            <a:avLst/>
          </a:prstGeom>
          <a:noFill/>
        </p:spPr>
        <p:txBody>
          <a:bodyPr wrap="square" lIns="0" tIns="0" rIns="0" bIns="0" anchor="ctr">
            <a:noAutofit/>
          </a:bodyPr>
          <a:lstStyle/>
          <a:p>
            <a:pPr algn="l"/>
            <a:r>
              <a:rPr lang="en-US" sz="2000" b="1" dirty="0">
                <a:solidFill>
                  <a:srgbClr val="F2F5FF"/>
                </a:solidFill>
                <a:latin typeface="DM Sans"/>
                <a:cs typeface="DM Sans"/>
              </a:rPr>
              <a:t>Partner with us</a:t>
            </a:r>
          </a:p>
        </p:txBody>
      </p:sp>
      <p:sp>
        <p:nvSpPr>
          <p:cNvPr id="1111" name="Partner with us text"/>
          <p:cNvSpPr txBox="1"/>
          <p:nvPr/>
        </p:nvSpPr>
        <p:spPr>
          <a:xfrm>
            <a:off x="5080000" y="4978400"/>
            <a:ext cx="6146800" cy="863600"/>
          </a:xfrm>
          <a:prstGeom prst="rect">
            <a:avLst/>
          </a:prstGeom>
          <a:noFill/>
        </p:spPr>
        <p:txBody>
          <a:bodyPr wrap="square" lIns="0" tIns="0" rIns="0" bIns="0" anchor="ctr">
            <a:noAutofit/>
          </a:bodyPr>
          <a:lstStyle/>
          <a:p>
            <a:pPr algn="l"/>
            <a:r>
              <a:rPr lang="en-US" sz="1600" b="0" dirty="0">
                <a:solidFill>
                  <a:srgbClr val="A9B1D1"/>
                </a:solidFill>
                <a:latin typeface="DM Sans"/>
                <a:cs typeface="DM Sans"/>
              </a:rPr>
              <a:t>Faculty, staff and campus groups can book the Studio for their own AI workshops, events or a game-show style AI challenge.</a:t>
            </a:r>
          </a:p>
        </p:txBody>
      </p:sp>
      <p:sp>
        <p:nvSpPr>
          <p:cNvPr id="1112" name="Divider 3"/>
          <p:cNvSpPr/>
          <p:nvPr/>
        </p:nvSpPr>
        <p:spPr>
          <a:xfrm>
            <a:off x="812800" y="4953000"/>
            <a:ext cx="10566400" cy="12700"/>
          </a:xfrm>
          <a:prstGeom prst="rect">
            <a:avLst/>
          </a:prstGeom>
          <a:solidFill>
            <a:srgbClr val="2A3A6E"/>
          </a:solidFill>
          <a:ln>
            <a:noFill/>
          </a:ln>
        </p:spPr>
        <p:txBody>
          <a:bodyPr/>
          <a:lstStyle/>
          <a:p>
            <a:endParaRPr lang="en-US"/>
          </a:p>
        </p:txBody>
      </p:sp>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02 / 24</a:t>
            </a:r>
          </a:p>
        </p:txBody>
      </p:sp>
      <p:pic>
        <p:nvPicPr>
          <p:cNvPr id="1113" name="Graphic 1113" descr="Laptop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3600" y="2438400"/>
            <a:ext cx="457200" cy="457200"/>
          </a:xfrm>
          <a:prstGeom prst="rect">
            <a:avLst/>
          </a:prstGeom>
        </p:spPr>
      </p:pic>
      <p:pic>
        <p:nvPicPr>
          <p:cNvPr id="1114" name="Graphic 1114" descr="Chat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3600" y="3352800"/>
            <a:ext cx="457200" cy="457200"/>
          </a:xfrm>
          <a:prstGeom prst="rect">
            <a:avLst/>
          </a:prstGeom>
        </p:spPr>
      </p:pic>
      <p:pic>
        <p:nvPicPr>
          <p:cNvPr id="1115" name="Graphic 1115" descr="Graduation cap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3600" y="4267200"/>
            <a:ext cx="457200" cy="457200"/>
          </a:xfrm>
          <a:prstGeom prst="rect">
            <a:avLst/>
          </a:prstGeom>
        </p:spPr>
      </p:pic>
      <p:pic>
        <p:nvPicPr>
          <p:cNvPr id="1116" name="Graphic 1116" descr="Group of people ic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63600" y="5181600"/>
            <a:ext cx="457200" cy="457200"/>
          </a:xfrm>
          <a:prstGeom prst="rect">
            <a:avLst/>
          </a:prstGeom>
        </p:spPr>
      </p:pic>
    </p:spTree>
    <p:extLst>
      <p:ext uri="{BB962C8B-B14F-4D97-AF65-F5344CB8AC3E}">
        <p14:creationId xmlns:p14="http://schemas.microsoft.com/office/powerpoint/2010/main" val="1071994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C1E"/>
        </a:solidFill>
        <a:effectLst/>
      </p:bgPr>
    </p:bg>
    <p:spTree>
      <p:nvGrpSpPr>
        <p:cNvPr id="1" name=""/>
        <p:cNvGrpSpPr/>
        <p:nvPr/>
      </p:nvGrpSpPr>
      <p:grpSpPr>
        <a:xfrm>
          <a:off x="0" y="0"/>
          <a:ext cx="0" cy="0"/>
          <a:chOff x="0" y="0"/>
          <a:chExt cx="0" cy="0"/>
        </a:xfrm>
      </p:grpSpPr>
      <p:sp>
        <p:nvSpPr>
          <p:cNvPr id="10" name="Glow top right"/>
          <p:cNvSpPr/>
          <p:nvPr/>
        </p:nvSpPr>
        <p:spPr>
          <a:xfrm>
            <a:off x="6858000" y="-3810000"/>
            <a:ext cx="9144000" cy="9144000"/>
          </a:xfrm>
          <a:prstGeom prst="ellipse">
            <a:avLst/>
          </a:prstGeom>
          <a:gradFill rotWithShape="1">
            <a:gsLst>
              <a:gs pos="0">
                <a:srgbClr val="38C8F0">
                  <a:alpha val="16000"/>
                </a:srgbClr>
              </a:gs>
              <a:gs pos="100000">
                <a:srgbClr val="070C1E">
                  <a:alpha val="0"/>
                </a:srgbClr>
              </a:gs>
            </a:gsLst>
            <a:path path="circle">
              <a:fillToRect l="50000" t="50000" r="50000" b="50000"/>
            </a:path>
          </a:gradFill>
          <a:ln>
            <a:noFill/>
          </a:ln>
        </p:spPr>
        <p:txBody>
          <a:bodyPr/>
          <a:lstStyle/>
          <a:p>
            <a:endParaRPr lang="en-US"/>
          </a:p>
        </p:txBody>
      </p:sp>
      <p:sp>
        <p:nvSpPr>
          <p:cNvPr id="11" name="Glow bottom left"/>
          <p:cNvSpPr/>
          <p:nvPr/>
        </p:nvSpPr>
        <p:spPr>
          <a:xfrm>
            <a:off x="-2794000" y="4064000"/>
            <a:ext cx="7112000" cy="5842000"/>
          </a:xfrm>
          <a:prstGeom prst="ellipse">
            <a:avLst/>
          </a:prstGeom>
          <a:gradFill rotWithShape="1">
            <a:gsLst>
              <a:gs pos="0">
                <a:srgbClr val="7C5CFF">
                  <a:alpha val="14000"/>
                </a:srgbClr>
              </a:gs>
              <a:gs pos="100000">
                <a:srgbClr val="070C1E">
                  <a:alpha val="0"/>
                </a:srgbClr>
              </a:gs>
            </a:gsLst>
            <a:path path="circle">
              <a:fillToRect l="50000" t="50000" r="50000" b="50000"/>
            </a:path>
          </a:gradFill>
          <a:ln>
            <a:noFill/>
          </a:ln>
        </p:spPr>
        <p:txBody>
          <a:bodyPr/>
          <a:lstStyle/>
          <a:p>
            <a:endParaRPr lang="en-US"/>
          </a:p>
        </p:txBody>
      </p:sp>
      <p:sp>
        <p:nvSpPr>
          <p:cNvPr id="12" name="Top accent bar"/>
          <p:cNvSpPr/>
          <p:nvPr/>
        </p:nvSpPr>
        <p:spPr>
          <a:xfrm>
            <a:off x="0" y="0"/>
            <a:ext cx="12192000" cy="38100"/>
          </a:xfrm>
          <a:prstGeom prst="rect">
            <a:avLst/>
          </a:prstGeom>
          <a:gradFill>
            <a:gsLst>
              <a:gs pos="0">
                <a:srgbClr val="38C8F0"/>
              </a:gs>
              <a:gs pos="100000">
                <a:srgbClr val="A78BFA"/>
              </a:gs>
            </a:gsLst>
            <a:lin ang="0" scaled="0"/>
          </a:gradFill>
          <a:ln>
            <a:noFill/>
          </a:ln>
        </p:spPr>
        <p:txBody>
          <a:bodyPr/>
          <a:lstStyle/>
          <a:p>
            <a:endParaRPr lang="en-US"/>
          </a:p>
        </p:txBody>
      </p:sp>
      <p:sp>
        <p:nvSpPr>
          <p:cNvPr id="13" name="Eyebrow"/>
          <p:cNvSpPr txBox="1"/>
          <p:nvPr/>
        </p:nvSpPr>
        <p:spPr>
          <a:xfrm>
            <a:off x="812800" y="787400"/>
            <a:ext cx="7620000" cy="254000"/>
          </a:xfrm>
          <a:prstGeom prst="rect">
            <a:avLst/>
          </a:prstGeom>
          <a:noFill/>
        </p:spPr>
        <p:txBody>
          <a:bodyPr wrap="square" lIns="0" tIns="0" rIns="0" bIns="0" anchor="t">
            <a:noAutofit/>
          </a:bodyPr>
          <a:lstStyle/>
          <a:p>
            <a:pPr algn="l"/>
            <a:r>
              <a:rPr lang="en-US" sz="1400" b="1" spc="200" dirty="0">
                <a:solidFill>
                  <a:srgbClr val="38C8F0"/>
                </a:solidFill>
                <a:latin typeface="Consolas"/>
                <a:cs typeface="Consolas"/>
              </a:rPr>
              <a:t>// GET STARTED</a:t>
            </a:r>
          </a:p>
        </p:txBody>
      </p:sp>
      <p:sp>
        <p:nvSpPr>
          <p:cNvPr id="14" name="Title"/>
          <p:cNvSpPr txBox="1"/>
          <p:nvPr/>
        </p:nvSpPr>
        <p:spPr>
          <a:xfrm>
            <a:off x="812800" y="1092200"/>
            <a:ext cx="10566400" cy="711200"/>
          </a:xfrm>
          <a:prstGeom prst="rect">
            <a:avLst/>
          </a:prstGeom>
          <a:noFill/>
        </p:spPr>
        <p:txBody>
          <a:bodyPr wrap="square" lIns="0" tIns="0" rIns="0" bIns="0" anchor="ctr">
            <a:noAutofit/>
          </a:bodyPr>
          <a:lstStyle/>
          <a:p>
            <a:pPr algn="l"/>
            <a:r>
              <a:rPr lang="en-US" sz="3600" b="1" dirty="0">
                <a:solidFill>
                  <a:srgbClr val="F2F5FF"/>
                </a:solidFill>
                <a:latin typeface="Segoe UI"/>
                <a:cs typeface="Segoe UI"/>
              </a:rPr>
              <a:t>Start here: U of A GenAI</a:t>
            </a:r>
          </a:p>
        </p:txBody>
      </p:sp>
      <p:sp>
        <p:nvSpPr>
          <p:cNvPr id="15" name="URL card"/>
          <p:cNvSpPr/>
          <p:nvPr/>
        </p:nvSpPr>
        <p:spPr>
          <a:xfrm>
            <a:off x="812800" y="2159000"/>
            <a:ext cx="10566400" cy="2540000"/>
          </a:xfrm>
          <a:prstGeom prst="roundRect">
            <a:avLst>
              <a:gd name="adj" fmla="val 6000"/>
            </a:avLst>
          </a:prstGeom>
          <a:gradFill rotWithShape="1">
            <a:gsLst>
              <a:gs pos="0">
                <a:srgbClr val="242B78"/>
              </a:gs>
              <a:gs pos="100000">
                <a:srgbClr val="3A2A78"/>
              </a:gs>
            </a:gsLst>
            <a:lin ang="2700000" scaled="0"/>
          </a:gradFill>
          <a:ln w="12700">
            <a:solidFill>
              <a:srgbClr val="6D6DE8"/>
            </a:solidFill>
          </a:ln>
        </p:spPr>
        <p:txBody>
          <a:bodyPr/>
          <a:lstStyle/>
          <a:p>
            <a:endParaRPr lang="en-US"/>
          </a:p>
        </p:txBody>
      </p:sp>
      <p:sp>
        <p:nvSpPr>
          <p:cNvPr id="16" name="URL"/>
          <p:cNvSpPr txBox="1"/>
          <p:nvPr/>
        </p:nvSpPr>
        <p:spPr>
          <a:xfrm>
            <a:off x="2032000" y="2159000"/>
            <a:ext cx="8890000" cy="2540000"/>
          </a:xfrm>
          <a:prstGeom prst="rect">
            <a:avLst/>
          </a:prstGeom>
          <a:noFill/>
        </p:spPr>
        <p:txBody>
          <a:bodyPr wrap="square" lIns="0" tIns="0" rIns="0" bIns="0" anchor="ctr">
            <a:noAutofit/>
          </a:bodyPr>
          <a:lstStyle/>
          <a:p>
            <a:pPr algn="l"/>
            <a:r>
              <a:rPr lang="en-US" sz="5400" b="1" dirty="0">
                <a:solidFill>
                  <a:srgbClr val="FFFFFF"/>
                </a:solidFill>
                <a:latin typeface="Segoe UI"/>
                <a:cs typeface="Segoe UI"/>
                <a:hlinkClick r:id="rId2"/>
              </a:rPr>
              <a:t>genai.arizona.edu</a:t>
            </a:r>
            <a:endParaRPr lang="en-US" sz="5400" b="1" dirty="0">
              <a:solidFill>
                <a:srgbClr val="FFFFFF"/>
              </a:solidFill>
              <a:latin typeface="Segoe UI"/>
              <a:cs typeface="Segoe UI"/>
            </a:endParaRPr>
          </a:p>
        </p:txBody>
      </p:sp>
      <p:sp>
        <p:nvSpPr>
          <p:cNvPr id="17" name="Pill 1"/>
          <p:cNvSpPr/>
          <p:nvPr/>
        </p:nvSpPr>
        <p:spPr>
          <a:xfrm>
            <a:off x="812800" y="5080000"/>
            <a:ext cx="2921000" cy="508000"/>
          </a:xfrm>
          <a:prstGeom prst="roundRect">
            <a:avLst>
              <a:gd name="adj" fmla="val 50000"/>
            </a:avLst>
          </a:prstGeom>
          <a:solidFill>
            <a:srgbClr val="0E1830"/>
          </a:solidFill>
          <a:ln w="12700">
            <a:solidFill>
              <a:srgbClr val="27355F"/>
            </a:solidFill>
          </a:ln>
        </p:spPr>
        <p:txBody>
          <a:bodyPr/>
          <a:lstStyle/>
          <a:p>
            <a:endParaRPr lang="en-US"/>
          </a:p>
        </p:txBody>
      </p:sp>
      <p:sp>
        <p:nvSpPr>
          <p:cNvPr id="18" name="Pill text 1"/>
          <p:cNvSpPr txBox="1"/>
          <p:nvPr/>
        </p:nvSpPr>
        <p:spPr>
          <a:xfrm>
            <a:off x="1320800" y="5080000"/>
            <a:ext cx="2260600" cy="508000"/>
          </a:xfrm>
          <a:prstGeom prst="rect">
            <a:avLst/>
          </a:prstGeom>
          <a:noFill/>
        </p:spPr>
        <p:txBody>
          <a:bodyPr wrap="square" lIns="0" tIns="0" rIns="0" bIns="0" anchor="ctr">
            <a:noAutofit/>
          </a:bodyPr>
          <a:lstStyle/>
          <a:p>
            <a:pPr algn="l"/>
            <a:r>
              <a:rPr lang="en-US" sz="1400" b="1" dirty="0">
                <a:solidFill>
                  <a:srgbClr val="E6EAF7"/>
                </a:solidFill>
                <a:latin typeface="Segoe UI"/>
                <a:cs typeface="Segoe UI"/>
              </a:rPr>
              <a:t>Free with your NetID</a:t>
            </a:r>
          </a:p>
        </p:txBody>
      </p:sp>
      <p:sp>
        <p:nvSpPr>
          <p:cNvPr id="19" name="Pill 2"/>
          <p:cNvSpPr/>
          <p:nvPr/>
        </p:nvSpPr>
        <p:spPr>
          <a:xfrm>
            <a:off x="3911600" y="5080000"/>
            <a:ext cx="1524000" cy="508000"/>
          </a:xfrm>
          <a:prstGeom prst="roundRect">
            <a:avLst>
              <a:gd name="adj" fmla="val 50000"/>
            </a:avLst>
          </a:prstGeom>
          <a:solidFill>
            <a:srgbClr val="0E1830"/>
          </a:solidFill>
          <a:ln w="12700">
            <a:solidFill>
              <a:srgbClr val="27355F"/>
            </a:solidFill>
          </a:ln>
        </p:spPr>
        <p:txBody>
          <a:bodyPr/>
          <a:lstStyle/>
          <a:p>
            <a:endParaRPr lang="en-US"/>
          </a:p>
        </p:txBody>
      </p:sp>
      <p:sp>
        <p:nvSpPr>
          <p:cNvPr id="20" name="Pill text 2"/>
          <p:cNvSpPr txBox="1"/>
          <p:nvPr/>
        </p:nvSpPr>
        <p:spPr>
          <a:xfrm>
            <a:off x="4419600" y="5080000"/>
            <a:ext cx="863600" cy="508000"/>
          </a:xfrm>
          <a:prstGeom prst="rect">
            <a:avLst/>
          </a:prstGeom>
          <a:noFill/>
        </p:spPr>
        <p:txBody>
          <a:bodyPr wrap="square" lIns="0" tIns="0" rIns="0" bIns="0" anchor="ctr">
            <a:noAutofit/>
          </a:bodyPr>
          <a:lstStyle/>
          <a:p>
            <a:pPr algn="l"/>
            <a:r>
              <a:rPr lang="en-US" sz="1400" b="1" dirty="0">
                <a:solidFill>
                  <a:srgbClr val="E6EAF7"/>
                </a:solidFill>
                <a:latin typeface="Segoe UI"/>
                <a:cs typeface="Segoe UI"/>
              </a:rPr>
              <a:t>Private</a:t>
            </a:r>
          </a:p>
        </p:txBody>
      </p:sp>
      <p:sp>
        <p:nvSpPr>
          <p:cNvPr id="21" name="Pill 3"/>
          <p:cNvSpPr/>
          <p:nvPr/>
        </p:nvSpPr>
        <p:spPr>
          <a:xfrm>
            <a:off x="5613400" y="5080000"/>
            <a:ext cx="4064000" cy="508000"/>
          </a:xfrm>
          <a:prstGeom prst="roundRect">
            <a:avLst>
              <a:gd name="adj" fmla="val 50000"/>
            </a:avLst>
          </a:prstGeom>
          <a:solidFill>
            <a:srgbClr val="0E1830"/>
          </a:solidFill>
          <a:ln w="12700">
            <a:solidFill>
              <a:srgbClr val="27355F"/>
            </a:solidFill>
          </a:ln>
        </p:spPr>
        <p:txBody>
          <a:bodyPr/>
          <a:lstStyle/>
          <a:p>
            <a:endParaRPr lang="en-US"/>
          </a:p>
        </p:txBody>
      </p:sp>
      <p:sp>
        <p:nvSpPr>
          <p:cNvPr id="22" name="Pill text 3"/>
          <p:cNvSpPr txBox="1"/>
          <p:nvPr/>
        </p:nvSpPr>
        <p:spPr>
          <a:xfrm>
            <a:off x="6121400" y="5080000"/>
            <a:ext cx="3403600" cy="508000"/>
          </a:xfrm>
          <a:prstGeom prst="rect">
            <a:avLst/>
          </a:prstGeom>
          <a:noFill/>
        </p:spPr>
        <p:txBody>
          <a:bodyPr wrap="square" lIns="0" tIns="0" rIns="0" bIns="0" anchor="ctr">
            <a:noAutofit/>
          </a:bodyPr>
          <a:lstStyle/>
          <a:p>
            <a:pPr algn="l"/>
            <a:r>
              <a:rPr lang="en-US" sz="1400" b="1" dirty="0">
                <a:solidFill>
                  <a:srgbClr val="E6EAF7"/>
                </a:solidFill>
                <a:latin typeface="Segoe UI"/>
                <a:cs typeface="Segoe UI"/>
              </a:rPr>
              <a:t>Approved for university data</a:t>
            </a:r>
          </a:p>
        </p:txBody>
      </p:sp>
      <p:sp>
        <p:nvSpPr>
          <p:cNvPr id="23" name="Footer"/>
          <p:cNvSpPr txBox="1"/>
          <p:nvPr/>
        </p:nvSpPr>
        <p:spPr>
          <a:xfrm>
            <a:off x="812800" y="6235700"/>
            <a:ext cx="6350000" cy="203200"/>
          </a:xfrm>
          <a:prstGeom prst="rect">
            <a:avLst/>
          </a:prstGeom>
          <a:noFill/>
        </p:spPr>
        <p:txBody>
          <a:bodyPr wrap="square" lIns="0" tIns="0" rIns="0" bIns="0" anchor="t">
            <a:noAutofit/>
          </a:bodyPr>
          <a:lstStyle/>
          <a:p>
            <a:pPr algn="l"/>
            <a:r>
              <a:rPr lang="en-US" sz="1200" b="0" spc="100" dirty="0">
                <a:solidFill>
                  <a:srgbClr val="8A93B2"/>
                </a:solidFill>
                <a:latin typeface="Consolas"/>
                <a:cs typeface="Consolas"/>
              </a:rPr>
              <a:t>GEMINI NOTEBOOK WORKSHOP · AI+ STUDIO</a:t>
            </a:r>
          </a:p>
        </p:txBody>
      </p:sp>
      <p:sp>
        <p:nvSpPr>
          <p:cNvPr id="24" name="Page number"/>
          <p:cNvSpPr txBox="1"/>
          <p:nvPr/>
        </p:nvSpPr>
        <p:spPr>
          <a:xfrm>
            <a:off x="8839200" y="6235700"/>
            <a:ext cx="2540000" cy="203200"/>
          </a:xfrm>
          <a:prstGeom prst="rect">
            <a:avLst/>
          </a:prstGeom>
          <a:noFill/>
        </p:spPr>
        <p:txBody>
          <a:bodyPr wrap="square" lIns="0" tIns="0" rIns="0" bIns="0" anchor="t">
            <a:noAutofit/>
          </a:bodyPr>
          <a:lstStyle/>
          <a:p>
            <a:pPr algn="r"/>
            <a:r>
              <a:rPr lang="en-US" sz="1200" b="0" dirty="0">
                <a:solidFill>
                  <a:srgbClr val="8A93B2"/>
                </a:solidFill>
                <a:latin typeface="Consolas"/>
                <a:cs typeface="Consolas"/>
              </a:rPr>
              <a:t>03 / 25</a:t>
            </a:r>
          </a:p>
        </p:txBody>
      </p:sp>
      <p:pic>
        <p:nvPicPr>
          <p:cNvPr id="25" name="Graphic 25" descr="Globe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9200" y="3073400"/>
            <a:ext cx="711200" cy="711200"/>
          </a:xfrm>
          <a:prstGeom prst="rect">
            <a:avLst/>
          </a:prstGeom>
        </p:spPr>
      </p:pic>
      <p:pic>
        <p:nvPicPr>
          <p:cNvPr id="26" name="Graphic 26" descr="Check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6000" y="5219700"/>
            <a:ext cx="228600" cy="228600"/>
          </a:xfrm>
          <a:prstGeom prst="rect">
            <a:avLst/>
          </a:prstGeom>
        </p:spPr>
      </p:pic>
      <p:pic>
        <p:nvPicPr>
          <p:cNvPr id="27" name="Graphic 27" descr="Check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14800" y="5219700"/>
            <a:ext cx="228600" cy="228600"/>
          </a:xfrm>
          <a:prstGeom prst="rect">
            <a:avLst/>
          </a:prstGeom>
        </p:spPr>
      </p:pic>
      <p:pic>
        <p:nvPicPr>
          <p:cNvPr id="28" name="Graphic 28" descr="Check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16600" y="5219700"/>
            <a:ext cx="228600" cy="228600"/>
          </a:xfrm>
          <a:prstGeom prst="rect">
            <a:avLst/>
          </a:prstGeom>
        </p:spPr>
      </p:pic>
      <p:pic>
        <p:nvPicPr>
          <p:cNvPr id="29" name="Graphic 29" descr="Check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6000" y="5207000"/>
            <a:ext cx="254000" cy="254000"/>
          </a:xfrm>
          <a:prstGeom prst="rect">
            <a:avLst/>
          </a:prstGeom>
        </p:spPr>
      </p:pic>
    </p:spTree>
    <p:extLst>
      <p:ext uri="{BB962C8B-B14F-4D97-AF65-F5344CB8AC3E}">
        <p14:creationId xmlns:p14="http://schemas.microsoft.com/office/powerpoint/2010/main" val="1861845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gradFill rotWithShape="1">
          <a:gsLst>
            <a:gs pos="0">
              <a:srgbClr val="0A1230"/>
            </a:gs>
            <a:gs pos="55000">
              <a:srgbClr val="080C22"/>
            </a:gs>
            <a:gs pos="100000">
              <a:srgbClr val="150F38"/>
            </a:gs>
          </a:gsLst>
          <a:lin ang="5400000" scaled="0"/>
        </a:gradFill>
        <a:effectLst/>
      </p:bgPr>
    </p:bg>
    <p:spTree>
      <p:nvGrpSpPr>
        <p:cNvPr id="1" name=""/>
        <p:cNvGrpSpPr/>
        <p:nvPr/>
      </p:nvGrpSpPr>
      <p:grpSpPr>
        <a:xfrm>
          <a:off x="0" y="0"/>
          <a:ext cx="0" cy="0"/>
          <a:chOff x="0" y="0"/>
          <a:chExt cx="0" cy="0"/>
        </a:xfrm>
      </p:grpSpPr>
      <p:sp>
        <p:nvSpPr>
          <p:cNvPr id="1301" name="Top accent line"/>
          <p:cNvSpPr/>
          <p:nvPr/>
        </p:nvSpPr>
        <p:spPr>
          <a:xfrm>
            <a:off x="0" y="0"/>
            <a:ext cx="12192000" cy="38100"/>
          </a:xfrm>
          <a:prstGeom prst="rect">
            <a:avLst/>
          </a:prstGeom>
          <a:gradFill>
            <a:gsLst>
              <a:gs pos="0">
                <a:srgbClr val="38C8F0"/>
              </a:gs>
              <a:gs pos="100000">
                <a:srgbClr val="8B6CE0"/>
              </a:gs>
            </a:gsLst>
            <a:lin ang="0" scaled="0"/>
          </a:gradFill>
          <a:ln>
            <a:noFill/>
          </a:ln>
        </p:spPr>
        <p:txBody>
          <a:bodyPr/>
          <a:lstStyle/>
          <a:p>
            <a:endParaRPr lang="en-US"/>
          </a:p>
        </p:txBody>
      </p:sp>
      <p:sp>
        <p:nvSpPr>
          <p:cNvPr id="1302" name="Footer"/>
          <p:cNvSpPr txBox="1"/>
          <p:nvPr/>
        </p:nvSpPr>
        <p:spPr>
          <a:xfrm>
            <a:off x="812800" y="6235700"/>
            <a:ext cx="6350000" cy="203200"/>
          </a:xfrm>
          <a:prstGeom prst="rect">
            <a:avLst/>
          </a:prstGeom>
          <a:noFill/>
        </p:spPr>
        <p:txBody>
          <a:bodyPr wrap="square" lIns="0" tIns="0" rIns="0" bIns="0" anchor="ctr">
            <a:noAutofit/>
          </a:bodyPr>
          <a:lstStyle/>
          <a:p>
            <a:pPr algn="l"/>
            <a:r>
              <a:rPr lang="en-US" sz="1200" b="0" spc="100" dirty="0">
                <a:solidFill>
                  <a:srgbClr val="8A93B2"/>
                </a:solidFill>
                <a:latin typeface="Consolas"/>
                <a:cs typeface="Consolas"/>
              </a:rPr>
              <a:t>GEMINI NOTEBOOK WORKSHOP · AI+ STUDIO</a:t>
            </a:r>
          </a:p>
        </p:txBody>
      </p:sp>
      <p:sp>
        <p:nvSpPr>
          <p:cNvPr id="1303" name="Eyebrow"/>
          <p:cNvSpPr txBox="1"/>
          <p:nvPr/>
        </p:nvSpPr>
        <p:spPr>
          <a:xfrm>
            <a:off x="812800" y="812800"/>
            <a:ext cx="6350000" cy="228600"/>
          </a:xfrm>
          <a:prstGeom prst="rect">
            <a:avLst/>
          </a:prstGeom>
          <a:noFill/>
        </p:spPr>
        <p:txBody>
          <a:bodyPr wrap="square" lIns="0" tIns="0" rIns="0" bIns="0" anchor="ctr">
            <a:noAutofit/>
          </a:bodyPr>
          <a:lstStyle/>
          <a:p>
            <a:pPr algn="l"/>
            <a:r>
              <a:rPr lang="en-US" sz="1200" b="1" spc="150" dirty="0">
                <a:solidFill>
                  <a:srgbClr val="38C8F0"/>
                </a:solidFill>
                <a:latin typeface="Consolas"/>
                <a:cs typeface="Consolas"/>
              </a:rPr>
              <a:t>// TODAY'S PLAN</a:t>
            </a:r>
          </a:p>
        </p:txBody>
      </p:sp>
      <p:sp>
        <p:nvSpPr>
          <p:cNvPr id="1304" name="Title"/>
          <p:cNvSpPr txBox="1"/>
          <p:nvPr/>
        </p:nvSpPr>
        <p:spPr>
          <a:xfrm>
            <a:off x="812800" y="1117600"/>
            <a:ext cx="10566400" cy="508000"/>
          </a:xfrm>
          <a:prstGeom prst="rect">
            <a:avLst/>
          </a:prstGeom>
          <a:noFill/>
        </p:spPr>
        <p:txBody>
          <a:bodyPr wrap="square" lIns="0" tIns="0" rIns="0" bIns="0" anchor="ctr">
            <a:noAutofit/>
          </a:bodyPr>
          <a:lstStyle/>
          <a:p>
            <a:pPr algn="l"/>
            <a:r>
              <a:rPr lang="en-US" sz="3600" b="1" dirty="0">
                <a:solidFill>
                  <a:srgbClr val="F2F5FF"/>
                </a:solidFill>
                <a:latin typeface="DM Sans"/>
                <a:cs typeface="DM Sans"/>
              </a:rPr>
              <a:t>What we’ll cover today</a:t>
            </a:r>
          </a:p>
        </p:txBody>
      </p:sp>
      <p:sp>
        <p:nvSpPr>
          <p:cNvPr id="1305" name="Item 01 number"/>
          <p:cNvSpPr txBox="1"/>
          <p:nvPr/>
        </p:nvSpPr>
        <p:spPr>
          <a:xfrm>
            <a:off x="812800" y="1854200"/>
            <a:ext cx="711200" cy="558800"/>
          </a:xfrm>
          <a:prstGeom prst="rect">
            <a:avLst/>
          </a:prstGeom>
          <a:noFill/>
        </p:spPr>
        <p:txBody>
          <a:bodyPr wrap="square" lIns="0" tIns="0" rIns="0" bIns="0" anchor="ctr">
            <a:noAutofit/>
          </a:bodyPr>
          <a:lstStyle/>
          <a:p>
            <a:pPr algn="l"/>
            <a:r>
              <a:rPr lang="en-US" sz="2400" b="1" dirty="0">
                <a:solidFill>
                  <a:srgbClr val="38C8F0"/>
                </a:solidFill>
                <a:latin typeface="Consolas"/>
                <a:cs typeface="Consolas"/>
              </a:rPr>
              <a:t>01</a:t>
            </a:r>
          </a:p>
        </p:txBody>
      </p:sp>
      <p:sp>
        <p:nvSpPr>
          <p:cNvPr id="1306" name="Item 01 title"/>
          <p:cNvSpPr txBox="1"/>
          <p:nvPr/>
        </p:nvSpPr>
        <p:spPr>
          <a:xfrm>
            <a:off x="1625600" y="1854200"/>
            <a:ext cx="3810000" cy="558800"/>
          </a:xfrm>
          <a:prstGeom prst="rect">
            <a:avLst/>
          </a:prstGeom>
          <a:noFill/>
        </p:spPr>
        <p:txBody>
          <a:bodyPr wrap="square" lIns="0" tIns="0" rIns="0" bIns="0" anchor="ctr">
            <a:noAutofit/>
          </a:bodyPr>
          <a:lstStyle/>
          <a:p>
            <a:pPr algn="l"/>
            <a:r>
              <a:rPr lang="en-US" sz="2200" b="1" dirty="0">
                <a:solidFill>
                  <a:srgbClr val="F2F5FF"/>
                </a:solidFill>
                <a:latin typeface="DM Sans"/>
                <a:cs typeface="DM Sans"/>
              </a:rPr>
              <a:t>What it is</a:t>
            </a:r>
          </a:p>
        </p:txBody>
      </p:sp>
      <p:sp>
        <p:nvSpPr>
          <p:cNvPr id="1307" name="Item 01 description"/>
          <p:cNvSpPr txBox="1"/>
          <p:nvPr/>
        </p:nvSpPr>
        <p:spPr>
          <a:xfrm>
            <a:off x="5334000" y="1854200"/>
            <a:ext cx="6045200" cy="558800"/>
          </a:xfrm>
          <a:prstGeom prst="rect">
            <a:avLst/>
          </a:prstGeom>
          <a:noFill/>
        </p:spPr>
        <p:txBody>
          <a:bodyPr wrap="square" lIns="0" tIns="0" rIns="0" bIns="0" anchor="ctr">
            <a:noAutofit/>
          </a:bodyPr>
          <a:lstStyle/>
          <a:p>
            <a:pPr algn="l"/>
            <a:r>
              <a:rPr lang="en-US" sz="1600" b="0" dirty="0">
                <a:solidFill>
                  <a:srgbClr val="A9B1D1"/>
                </a:solidFill>
                <a:latin typeface="DM Sans"/>
                <a:cs typeface="DM Sans"/>
              </a:rPr>
              <a:t>The rename, ways in, and how it differs from the Gemini app</a:t>
            </a:r>
          </a:p>
        </p:txBody>
      </p:sp>
      <p:sp>
        <p:nvSpPr>
          <p:cNvPr id="1308" name="Divider 1"/>
          <p:cNvSpPr/>
          <p:nvPr/>
        </p:nvSpPr>
        <p:spPr>
          <a:xfrm>
            <a:off x="812800" y="2400300"/>
            <a:ext cx="10566400" cy="12700"/>
          </a:xfrm>
          <a:prstGeom prst="rect">
            <a:avLst/>
          </a:prstGeom>
          <a:solidFill>
            <a:srgbClr val="2A3A6E"/>
          </a:solidFill>
          <a:ln>
            <a:noFill/>
          </a:ln>
        </p:spPr>
        <p:txBody>
          <a:bodyPr/>
          <a:lstStyle/>
          <a:p>
            <a:endParaRPr lang="en-US"/>
          </a:p>
        </p:txBody>
      </p:sp>
      <p:sp>
        <p:nvSpPr>
          <p:cNvPr id="1309" name="Item 02 number"/>
          <p:cNvSpPr txBox="1"/>
          <p:nvPr/>
        </p:nvSpPr>
        <p:spPr>
          <a:xfrm>
            <a:off x="812800" y="2413000"/>
            <a:ext cx="711200" cy="558800"/>
          </a:xfrm>
          <a:prstGeom prst="rect">
            <a:avLst/>
          </a:prstGeom>
          <a:noFill/>
        </p:spPr>
        <p:txBody>
          <a:bodyPr wrap="square" lIns="0" tIns="0" rIns="0" bIns="0" anchor="ctr">
            <a:noAutofit/>
          </a:bodyPr>
          <a:lstStyle/>
          <a:p>
            <a:pPr algn="l"/>
            <a:r>
              <a:rPr lang="en-US" sz="2400" b="1" dirty="0">
                <a:solidFill>
                  <a:srgbClr val="A58BF2"/>
                </a:solidFill>
                <a:latin typeface="Consolas"/>
                <a:cs typeface="Consolas"/>
              </a:rPr>
              <a:t>02</a:t>
            </a:r>
          </a:p>
        </p:txBody>
      </p:sp>
      <p:sp>
        <p:nvSpPr>
          <p:cNvPr id="1310" name="Item 02 title"/>
          <p:cNvSpPr txBox="1"/>
          <p:nvPr/>
        </p:nvSpPr>
        <p:spPr>
          <a:xfrm>
            <a:off x="1625600" y="2413000"/>
            <a:ext cx="3810000" cy="558800"/>
          </a:xfrm>
          <a:prstGeom prst="rect">
            <a:avLst/>
          </a:prstGeom>
          <a:noFill/>
        </p:spPr>
        <p:txBody>
          <a:bodyPr wrap="square" lIns="0" tIns="0" rIns="0" bIns="0" anchor="ctr">
            <a:noAutofit/>
          </a:bodyPr>
          <a:lstStyle/>
          <a:p>
            <a:pPr algn="l"/>
            <a:r>
              <a:rPr lang="en-US" sz="2200" b="1" dirty="0">
                <a:solidFill>
                  <a:srgbClr val="F2F5FF"/>
                </a:solidFill>
                <a:latin typeface="DM Sans"/>
                <a:cs typeface="DM Sans"/>
              </a:rPr>
              <a:t>The layout</a:t>
            </a:r>
          </a:p>
        </p:txBody>
      </p:sp>
      <p:sp>
        <p:nvSpPr>
          <p:cNvPr id="1311" name="Item 02 description"/>
          <p:cNvSpPr txBox="1"/>
          <p:nvPr/>
        </p:nvSpPr>
        <p:spPr>
          <a:xfrm>
            <a:off x="5334000" y="2413000"/>
            <a:ext cx="6045200" cy="558800"/>
          </a:xfrm>
          <a:prstGeom prst="rect">
            <a:avLst/>
          </a:prstGeom>
          <a:noFill/>
        </p:spPr>
        <p:txBody>
          <a:bodyPr wrap="square" lIns="0" tIns="0" rIns="0" bIns="0" anchor="ctr">
            <a:noAutofit/>
          </a:bodyPr>
          <a:lstStyle/>
          <a:p>
            <a:pPr algn="l"/>
            <a:r>
              <a:rPr lang="en-US" sz="1600" b="0" dirty="0">
                <a:solidFill>
                  <a:srgbClr val="A9B1D1"/>
                </a:solidFill>
                <a:latin typeface="DM Sans"/>
                <a:cs typeface="DM Sans"/>
              </a:rPr>
              <a:t>3 segments of Gemini Notebook - Sources, Chat, Studio</a:t>
            </a:r>
          </a:p>
        </p:txBody>
      </p:sp>
      <p:sp>
        <p:nvSpPr>
          <p:cNvPr id="1312" name="Divider 2"/>
          <p:cNvSpPr/>
          <p:nvPr/>
        </p:nvSpPr>
        <p:spPr>
          <a:xfrm>
            <a:off x="812800" y="2959100"/>
            <a:ext cx="10566400" cy="12700"/>
          </a:xfrm>
          <a:prstGeom prst="rect">
            <a:avLst/>
          </a:prstGeom>
          <a:solidFill>
            <a:srgbClr val="2A3A6E"/>
          </a:solidFill>
          <a:ln>
            <a:noFill/>
          </a:ln>
        </p:spPr>
        <p:txBody>
          <a:bodyPr/>
          <a:lstStyle/>
          <a:p>
            <a:endParaRPr lang="en-US"/>
          </a:p>
        </p:txBody>
      </p:sp>
      <p:sp>
        <p:nvSpPr>
          <p:cNvPr id="1313" name="Item 03 number"/>
          <p:cNvSpPr txBox="1"/>
          <p:nvPr/>
        </p:nvSpPr>
        <p:spPr>
          <a:xfrm>
            <a:off x="812800" y="2971800"/>
            <a:ext cx="711200" cy="558800"/>
          </a:xfrm>
          <a:prstGeom prst="rect">
            <a:avLst/>
          </a:prstGeom>
          <a:noFill/>
        </p:spPr>
        <p:txBody>
          <a:bodyPr wrap="square" lIns="0" tIns="0" rIns="0" bIns="0" anchor="ctr">
            <a:noAutofit/>
          </a:bodyPr>
          <a:lstStyle/>
          <a:p>
            <a:pPr algn="l"/>
            <a:r>
              <a:rPr lang="en-US" sz="2400" b="1" dirty="0">
                <a:solidFill>
                  <a:srgbClr val="38C8F0"/>
                </a:solidFill>
                <a:latin typeface="Consolas"/>
                <a:cs typeface="Consolas"/>
              </a:rPr>
              <a:t>03</a:t>
            </a:r>
          </a:p>
        </p:txBody>
      </p:sp>
      <p:sp>
        <p:nvSpPr>
          <p:cNvPr id="1314" name="Item 03 title"/>
          <p:cNvSpPr txBox="1"/>
          <p:nvPr/>
        </p:nvSpPr>
        <p:spPr>
          <a:xfrm>
            <a:off x="1625600" y="2971800"/>
            <a:ext cx="3810000" cy="558800"/>
          </a:xfrm>
          <a:prstGeom prst="rect">
            <a:avLst/>
          </a:prstGeom>
          <a:noFill/>
        </p:spPr>
        <p:txBody>
          <a:bodyPr wrap="square" lIns="0" tIns="0" rIns="0" bIns="0" anchor="ctr">
            <a:noAutofit/>
          </a:bodyPr>
          <a:lstStyle/>
          <a:p>
            <a:pPr algn="l"/>
            <a:r>
              <a:rPr lang="en-US" sz="2200" b="1" dirty="0">
                <a:solidFill>
                  <a:srgbClr val="F2F5FF"/>
                </a:solidFill>
                <a:latin typeface="DM Sans"/>
                <a:cs typeface="DM Sans"/>
              </a:rPr>
              <a:t>Sources and research</a:t>
            </a:r>
          </a:p>
        </p:txBody>
      </p:sp>
      <p:sp>
        <p:nvSpPr>
          <p:cNvPr id="1315" name="Item 03 description"/>
          <p:cNvSpPr txBox="1"/>
          <p:nvPr/>
        </p:nvSpPr>
        <p:spPr>
          <a:xfrm>
            <a:off x="5334000" y="2971800"/>
            <a:ext cx="6045200" cy="558800"/>
          </a:xfrm>
          <a:prstGeom prst="rect">
            <a:avLst/>
          </a:prstGeom>
          <a:noFill/>
        </p:spPr>
        <p:txBody>
          <a:bodyPr wrap="square" lIns="0" tIns="0" rIns="0" bIns="0" anchor="ctr">
            <a:noAutofit/>
          </a:bodyPr>
          <a:lstStyle/>
          <a:p>
            <a:pPr algn="l"/>
            <a:r>
              <a:rPr lang="en-US" sz="1600" b="0" dirty="0">
                <a:solidFill>
                  <a:srgbClr val="A9B1D1"/>
                </a:solidFill>
                <a:latin typeface="DM Sans"/>
                <a:cs typeface="DM Sans"/>
              </a:rPr>
              <a:t>Find, add and organize material with Fast and Deep Research</a:t>
            </a:r>
          </a:p>
        </p:txBody>
      </p:sp>
      <p:sp>
        <p:nvSpPr>
          <p:cNvPr id="1316" name="Divider 3"/>
          <p:cNvSpPr/>
          <p:nvPr/>
        </p:nvSpPr>
        <p:spPr>
          <a:xfrm>
            <a:off x="812800" y="3517900"/>
            <a:ext cx="10566400" cy="12700"/>
          </a:xfrm>
          <a:prstGeom prst="rect">
            <a:avLst/>
          </a:prstGeom>
          <a:solidFill>
            <a:srgbClr val="2A3A6E"/>
          </a:solidFill>
          <a:ln>
            <a:noFill/>
          </a:ln>
        </p:spPr>
        <p:txBody>
          <a:bodyPr/>
          <a:lstStyle/>
          <a:p>
            <a:endParaRPr lang="en-US"/>
          </a:p>
        </p:txBody>
      </p:sp>
      <p:sp>
        <p:nvSpPr>
          <p:cNvPr id="1317" name="Item 04 number"/>
          <p:cNvSpPr txBox="1"/>
          <p:nvPr/>
        </p:nvSpPr>
        <p:spPr>
          <a:xfrm>
            <a:off x="812800" y="3530600"/>
            <a:ext cx="711200" cy="558800"/>
          </a:xfrm>
          <a:prstGeom prst="rect">
            <a:avLst/>
          </a:prstGeom>
          <a:noFill/>
        </p:spPr>
        <p:txBody>
          <a:bodyPr wrap="square" lIns="0" tIns="0" rIns="0" bIns="0" anchor="ctr">
            <a:noAutofit/>
          </a:bodyPr>
          <a:lstStyle/>
          <a:p>
            <a:pPr algn="l"/>
            <a:r>
              <a:rPr lang="en-US" sz="2400" b="1" dirty="0">
                <a:solidFill>
                  <a:srgbClr val="A58BF2"/>
                </a:solidFill>
                <a:latin typeface="Consolas"/>
                <a:cs typeface="Consolas"/>
              </a:rPr>
              <a:t>04</a:t>
            </a:r>
          </a:p>
        </p:txBody>
      </p:sp>
      <p:sp>
        <p:nvSpPr>
          <p:cNvPr id="1318" name="Item 04 title"/>
          <p:cNvSpPr txBox="1"/>
          <p:nvPr/>
        </p:nvSpPr>
        <p:spPr>
          <a:xfrm>
            <a:off x="1625600" y="3530600"/>
            <a:ext cx="3810000" cy="558800"/>
          </a:xfrm>
          <a:prstGeom prst="rect">
            <a:avLst/>
          </a:prstGeom>
          <a:noFill/>
        </p:spPr>
        <p:txBody>
          <a:bodyPr wrap="square" lIns="0" tIns="0" rIns="0" bIns="0" anchor="ctr">
            <a:noAutofit/>
          </a:bodyPr>
          <a:lstStyle/>
          <a:p>
            <a:pPr algn="l"/>
            <a:r>
              <a:rPr lang="en-US" sz="2200" b="1" dirty="0">
                <a:solidFill>
                  <a:srgbClr val="F2F5FF"/>
                </a:solidFill>
                <a:latin typeface="DM Sans"/>
                <a:cs typeface="DM Sans"/>
              </a:rPr>
              <a:t>Chat and notes</a:t>
            </a:r>
          </a:p>
        </p:txBody>
      </p:sp>
      <p:sp>
        <p:nvSpPr>
          <p:cNvPr id="1319" name="Item 04 description"/>
          <p:cNvSpPr txBox="1"/>
          <p:nvPr/>
        </p:nvSpPr>
        <p:spPr>
          <a:xfrm>
            <a:off x="5334000" y="3530600"/>
            <a:ext cx="6045200" cy="558800"/>
          </a:xfrm>
          <a:prstGeom prst="rect">
            <a:avLst/>
          </a:prstGeom>
          <a:noFill/>
        </p:spPr>
        <p:txBody>
          <a:bodyPr wrap="square" lIns="0" tIns="0" rIns="0" bIns="0" anchor="ctr">
            <a:noAutofit/>
          </a:bodyPr>
          <a:lstStyle/>
          <a:p>
            <a:pPr algn="l"/>
            <a:r>
              <a:rPr lang="en-US" sz="1600" b="0" dirty="0">
                <a:solidFill>
                  <a:srgbClr val="A9B1D1"/>
                </a:solidFill>
                <a:latin typeface="DM Sans"/>
                <a:cs typeface="DM Sans"/>
              </a:rPr>
              <a:t>Cited answers, saved notes and chat modes</a:t>
            </a:r>
          </a:p>
        </p:txBody>
      </p:sp>
      <p:sp>
        <p:nvSpPr>
          <p:cNvPr id="1320" name="Divider 4"/>
          <p:cNvSpPr/>
          <p:nvPr/>
        </p:nvSpPr>
        <p:spPr>
          <a:xfrm>
            <a:off x="812800" y="4076700"/>
            <a:ext cx="10566400" cy="12700"/>
          </a:xfrm>
          <a:prstGeom prst="rect">
            <a:avLst/>
          </a:prstGeom>
          <a:solidFill>
            <a:srgbClr val="2A3A6E"/>
          </a:solidFill>
          <a:ln>
            <a:noFill/>
          </a:ln>
        </p:spPr>
        <p:txBody>
          <a:bodyPr/>
          <a:lstStyle/>
          <a:p>
            <a:endParaRPr lang="en-US"/>
          </a:p>
        </p:txBody>
      </p:sp>
      <p:sp>
        <p:nvSpPr>
          <p:cNvPr id="1321" name="Item 05 number"/>
          <p:cNvSpPr txBox="1"/>
          <p:nvPr/>
        </p:nvSpPr>
        <p:spPr>
          <a:xfrm>
            <a:off x="812800" y="4089400"/>
            <a:ext cx="711200" cy="558800"/>
          </a:xfrm>
          <a:prstGeom prst="rect">
            <a:avLst/>
          </a:prstGeom>
          <a:noFill/>
        </p:spPr>
        <p:txBody>
          <a:bodyPr wrap="square" lIns="0" tIns="0" rIns="0" bIns="0" anchor="ctr">
            <a:noAutofit/>
          </a:bodyPr>
          <a:lstStyle/>
          <a:p>
            <a:pPr algn="l"/>
            <a:r>
              <a:rPr lang="en-US" sz="2400" b="1" dirty="0">
                <a:solidFill>
                  <a:srgbClr val="38C8F0"/>
                </a:solidFill>
                <a:latin typeface="Consolas"/>
                <a:cs typeface="Consolas"/>
              </a:rPr>
              <a:t>05</a:t>
            </a:r>
          </a:p>
        </p:txBody>
      </p:sp>
      <p:sp>
        <p:nvSpPr>
          <p:cNvPr id="1322" name="Item 05 title"/>
          <p:cNvSpPr txBox="1"/>
          <p:nvPr/>
        </p:nvSpPr>
        <p:spPr>
          <a:xfrm>
            <a:off x="1625600" y="4089400"/>
            <a:ext cx="3810000" cy="558800"/>
          </a:xfrm>
          <a:prstGeom prst="rect">
            <a:avLst/>
          </a:prstGeom>
          <a:noFill/>
        </p:spPr>
        <p:txBody>
          <a:bodyPr wrap="square" lIns="0" tIns="0" rIns="0" bIns="0" anchor="ctr">
            <a:noAutofit/>
          </a:bodyPr>
          <a:lstStyle/>
          <a:p>
            <a:pPr algn="l"/>
            <a:r>
              <a:rPr lang="en-US" sz="2200" b="1" dirty="0">
                <a:solidFill>
                  <a:srgbClr val="F2F5FF"/>
                </a:solidFill>
                <a:latin typeface="DM Sans"/>
                <a:cs typeface="DM Sans"/>
              </a:rPr>
              <a:t>Studio tools</a:t>
            </a:r>
          </a:p>
        </p:txBody>
      </p:sp>
      <p:sp>
        <p:nvSpPr>
          <p:cNvPr id="1323" name="Item 05 description"/>
          <p:cNvSpPr txBox="1"/>
          <p:nvPr/>
        </p:nvSpPr>
        <p:spPr>
          <a:xfrm>
            <a:off x="5334000" y="4089400"/>
            <a:ext cx="6045200" cy="558800"/>
          </a:xfrm>
          <a:prstGeom prst="rect">
            <a:avLst/>
          </a:prstGeom>
          <a:noFill/>
        </p:spPr>
        <p:txBody>
          <a:bodyPr wrap="square" lIns="0" tIns="0" rIns="0" bIns="0" anchor="ctr">
            <a:noAutofit/>
          </a:bodyPr>
          <a:lstStyle/>
          <a:p>
            <a:pPr algn="l"/>
            <a:r>
              <a:rPr lang="en-US" sz="1600" b="0" dirty="0">
                <a:solidFill>
                  <a:srgbClr val="A9B1D1"/>
                </a:solidFill>
                <a:latin typeface="DM Sans"/>
                <a:cs typeface="DM Sans"/>
              </a:rPr>
              <a:t>Podcasts, quizzes, mind maps, reports and tables</a:t>
            </a:r>
          </a:p>
        </p:txBody>
      </p:sp>
      <p:sp>
        <p:nvSpPr>
          <p:cNvPr id="1324" name="Divider 5"/>
          <p:cNvSpPr/>
          <p:nvPr/>
        </p:nvSpPr>
        <p:spPr>
          <a:xfrm>
            <a:off x="812800" y="4635500"/>
            <a:ext cx="10566400" cy="12700"/>
          </a:xfrm>
          <a:prstGeom prst="rect">
            <a:avLst/>
          </a:prstGeom>
          <a:solidFill>
            <a:srgbClr val="2A3A6E"/>
          </a:solidFill>
          <a:ln>
            <a:noFill/>
          </a:ln>
        </p:spPr>
        <p:txBody>
          <a:bodyPr/>
          <a:lstStyle/>
          <a:p>
            <a:endParaRPr lang="en-US"/>
          </a:p>
        </p:txBody>
      </p:sp>
      <p:sp>
        <p:nvSpPr>
          <p:cNvPr id="1325" name="Item 06 number"/>
          <p:cNvSpPr txBox="1"/>
          <p:nvPr/>
        </p:nvSpPr>
        <p:spPr>
          <a:xfrm>
            <a:off x="812800" y="4648200"/>
            <a:ext cx="711200" cy="558800"/>
          </a:xfrm>
          <a:prstGeom prst="rect">
            <a:avLst/>
          </a:prstGeom>
          <a:noFill/>
        </p:spPr>
        <p:txBody>
          <a:bodyPr wrap="square" lIns="0" tIns="0" rIns="0" bIns="0" anchor="ctr">
            <a:noAutofit/>
          </a:bodyPr>
          <a:lstStyle/>
          <a:p>
            <a:pPr algn="l"/>
            <a:r>
              <a:rPr lang="en-US" sz="2400" b="1" dirty="0">
                <a:solidFill>
                  <a:srgbClr val="A58BF2"/>
                </a:solidFill>
                <a:latin typeface="Consolas"/>
                <a:cs typeface="Consolas"/>
              </a:rPr>
              <a:t>06</a:t>
            </a:r>
          </a:p>
        </p:txBody>
      </p:sp>
      <p:sp>
        <p:nvSpPr>
          <p:cNvPr id="1326" name="Item 06 title"/>
          <p:cNvSpPr txBox="1"/>
          <p:nvPr/>
        </p:nvSpPr>
        <p:spPr>
          <a:xfrm>
            <a:off x="1625600" y="4648200"/>
            <a:ext cx="3810000" cy="558800"/>
          </a:xfrm>
          <a:prstGeom prst="rect">
            <a:avLst/>
          </a:prstGeom>
          <a:noFill/>
        </p:spPr>
        <p:txBody>
          <a:bodyPr wrap="square" lIns="0" tIns="0" rIns="0" bIns="0" anchor="ctr">
            <a:noAutofit/>
          </a:bodyPr>
          <a:lstStyle/>
          <a:p>
            <a:pPr algn="l"/>
            <a:r>
              <a:rPr lang="en-US" sz="2200" b="1" dirty="0">
                <a:solidFill>
                  <a:srgbClr val="F2F5FF"/>
                </a:solidFill>
                <a:latin typeface="DM Sans"/>
                <a:cs typeface="DM Sans"/>
              </a:rPr>
              <a:t>Share and wrap up</a:t>
            </a:r>
          </a:p>
        </p:txBody>
      </p:sp>
      <p:sp>
        <p:nvSpPr>
          <p:cNvPr id="1327" name="Item 06 description"/>
          <p:cNvSpPr txBox="1"/>
          <p:nvPr/>
        </p:nvSpPr>
        <p:spPr>
          <a:xfrm>
            <a:off x="5334000" y="4648200"/>
            <a:ext cx="6045200" cy="558800"/>
          </a:xfrm>
          <a:prstGeom prst="rect">
            <a:avLst/>
          </a:prstGeom>
          <a:noFill/>
        </p:spPr>
        <p:txBody>
          <a:bodyPr wrap="square" lIns="0" tIns="0" rIns="0" bIns="0" anchor="ctr">
            <a:noAutofit/>
          </a:bodyPr>
          <a:lstStyle/>
          <a:p>
            <a:pPr algn="l"/>
            <a:r>
              <a:rPr lang="en-US" sz="1600" b="0" dirty="0">
                <a:solidFill>
                  <a:srgbClr val="A9B1D1"/>
                </a:solidFill>
                <a:latin typeface="DM Sans"/>
                <a:cs typeface="DM Sans"/>
              </a:rPr>
              <a:t>Study together, use it responsibly, prompts to steal, Q&amp;A</a:t>
            </a:r>
          </a:p>
        </p:txBody>
      </p:sp>
      <p:sp>
        <p:nvSpPr>
          <p:cNvPr id="1328" name="Divider 6"/>
          <p:cNvSpPr/>
          <p:nvPr/>
        </p:nvSpPr>
        <p:spPr>
          <a:xfrm>
            <a:off x="812800" y="5194300"/>
            <a:ext cx="10566400" cy="12700"/>
          </a:xfrm>
          <a:prstGeom prst="rect">
            <a:avLst/>
          </a:prstGeom>
          <a:solidFill>
            <a:srgbClr val="2A3A6E"/>
          </a:solidFill>
          <a:ln>
            <a:noFill/>
          </a:ln>
        </p:spPr>
        <p:txBody>
          <a:bodyPr/>
          <a:lstStyle/>
          <a:p>
            <a:endParaRPr lang="en-US"/>
          </a:p>
        </p:txBody>
      </p:sp>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04 / 24</a:t>
            </a:r>
          </a:p>
        </p:txBody>
      </p:sp>
      <p:pic>
        <p:nvPicPr>
          <p:cNvPr id="1331" name="Graphic 1331" descr="Globe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5200" y="5549900"/>
            <a:ext cx="355600" cy="355600"/>
          </a:xfrm>
          <a:prstGeom prst="rect">
            <a:avLst/>
          </a:prstGeom>
        </p:spPr>
      </p:pic>
    </p:spTree>
    <p:extLst>
      <p:ext uri="{BB962C8B-B14F-4D97-AF65-F5344CB8AC3E}">
        <p14:creationId xmlns:p14="http://schemas.microsoft.com/office/powerpoint/2010/main" val="3708518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 First, a quick heads up New mask, same task  Renamed July 16, 2026  Old notebooks and links still work  notebook.google.com · UA NetID login GEMINI NOTEBOOK WORKSHOP · AI+ STUDIO 03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03 / 24</a:t>
            </a:r>
          </a:p>
        </p:txBody>
      </p:sp>
      <p:sp>
        <p:nvSpPr>
          <p:cNvPr id="3" name="Pill patch">
            <a:extLst>
              <a:ext uri="{FF2B5EF4-FFF2-40B4-BE49-F238E27FC236}">
                <a16:creationId xmlns:a16="http://schemas.microsoft.com/office/drawing/2014/main" id="{1D9F09D1-555B-4592-9E85-610E899DB2A2}"/>
              </a:ext>
            </a:extLst>
          </p:cNvPr>
          <p:cNvSpPr/>
          <p:nvPr/>
        </p:nvSpPr>
        <p:spPr>
          <a:xfrm>
            <a:off x="7175500" y="4775200"/>
            <a:ext cx="3492500" cy="584200"/>
          </a:xfrm>
          <a:prstGeom prst="roundRect">
            <a:avLst/>
          </a:prstGeom>
          <a:solidFill>
            <a:srgbClr val="070C1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177800" tIns="25400" rIns="177800" bIns="25400" rtlCol="0" anchor="ctr" anchorCtr="0">
            <a:noAutofit/>
          </a:bodyPr>
          <a:lstStyle/>
          <a:p>
            <a:endParaRPr lang="en-US" sz="1400">
              <a:solidFill>
                <a:srgbClr val="E6EAF7"/>
              </a:solidFill>
            </a:endParaRPr>
          </a:p>
        </p:txBody>
      </p:sp>
      <p:sp>
        <p:nvSpPr>
          <p:cNvPr id="6" name="Gemini brand pill">
            <a:extLst>
              <a:ext uri="{FF2B5EF4-FFF2-40B4-BE49-F238E27FC236}">
                <a16:creationId xmlns:a16="http://schemas.microsoft.com/office/drawing/2014/main" id="{CC267AB2-025A-4EFC-92D0-F28A8D946121}"/>
              </a:ext>
            </a:extLst>
          </p:cNvPr>
          <p:cNvSpPr/>
          <p:nvPr/>
        </p:nvSpPr>
        <p:spPr>
          <a:xfrm>
            <a:off x="2730500" y="5524500"/>
            <a:ext cx="6731000" cy="406400"/>
          </a:xfrm>
          <a:prstGeom prst="roundRect">
            <a:avLst>
              <a:gd name="adj" fmla="val 50000"/>
            </a:avLst>
          </a:prstGeom>
          <a:solidFill>
            <a:srgbClr val="0E1830"/>
          </a:solidFill>
          <a:ln w="12700" cap="flat" cmpd="sng" algn="ctr">
            <a:solidFill>
              <a:srgbClr val="27355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lIns="508000" tIns="0" rIns="203200" bIns="0" rtlCol="0" anchor="ctr" anchorCtr="0">
            <a:noAutofit/>
          </a:bodyPr>
          <a:lstStyle/>
          <a:p>
            <a:r>
              <a:rPr lang="en-US" sz="1200" dirty="0">
                <a:solidFill>
                  <a:srgbClr val="FFFFFF"/>
                </a:solidFill>
                <a:latin typeface="Segoe UI Semibold"/>
                <a:cs typeface="Segoe UI Semibold"/>
              </a:rPr>
              <a:t>Unified under the Gemini brand for seamless integration across Google’s ecosystem</a:t>
            </a:r>
          </a:p>
        </p:txBody>
      </p:sp>
      <p:sp>
        <p:nvSpPr>
          <p:cNvPr id="7" name="Gemini pill icon">
            <a:extLst>
              <a:ext uri="{FF2B5EF4-FFF2-40B4-BE49-F238E27FC236}">
                <a16:creationId xmlns:a16="http://schemas.microsoft.com/office/drawing/2014/main" id="{2D2BC57B-D7CA-457C-BD09-66EAA08D9CFC}"/>
              </a:ext>
            </a:extLst>
          </p:cNvPr>
          <p:cNvSpPr/>
          <p:nvPr/>
        </p:nvSpPr>
        <p:spPr>
          <a:xfrm>
            <a:off x="2984500" y="5645150"/>
            <a:ext cx="165100" cy="165100"/>
          </a:xfrm>
          <a:prstGeom prst="star4">
            <a:avLst/>
          </a:prstGeom>
          <a:solidFill>
            <a:srgbClr val="38C8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910" name="Row cover above"/>
          <p:cNvPicPr>
            <a:picLocks noChangeAspect="1"/>
          </p:cNvPicPr>
          <p:nvPr/>
        </p:nvPicPr>
        <p:blipFill>
          <a:blip r:embed="rId3"/>
          <a:srcRect l="11667" t="67778" r="40625" b="30741"/>
          <a:stretch>
            <a:fillRect/>
          </a:stretch>
        </p:blipFill>
        <p:spPr>
          <a:xfrm>
            <a:off x="1422400" y="4749800"/>
            <a:ext cx="5816600" cy="635000"/>
          </a:xfrm>
          <a:prstGeom prst="rect">
            <a:avLst/>
          </a:prstGeom>
        </p:spPr>
      </p:pic>
      <p:pic>
        <p:nvPicPr>
          <p:cNvPr id="912" name="Row cover below"/>
          <p:cNvPicPr>
            <a:picLocks noChangeAspect="1"/>
          </p:cNvPicPr>
          <p:nvPr/>
        </p:nvPicPr>
        <p:blipFill>
          <a:blip r:embed="rId3">
            <a:alphaModFix amt="50000"/>
          </a:blip>
          <a:srcRect l="11667" t="78889" r="40625" b="19630"/>
          <a:stretch>
            <a:fillRect/>
          </a:stretch>
        </p:blipFill>
        <p:spPr>
          <a:xfrm>
            <a:off x="1422400" y="4749800"/>
            <a:ext cx="5816600" cy="635000"/>
          </a:xfrm>
          <a:prstGeom prst="rect">
            <a:avLst/>
          </a:prstGeom>
        </p:spPr>
      </p:pic>
      <p:pic>
        <p:nvPicPr>
          <p:cNvPr id="911" name="Pills centered"/>
          <p:cNvPicPr>
            <a:picLocks noChangeAspect="1"/>
          </p:cNvPicPr>
          <p:nvPr/>
        </p:nvPicPr>
        <p:blipFill>
          <a:blip r:embed="rId3"/>
          <a:srcRect l="12792" t="70556" r="41750" b="22778"/>
          <a:stretch>
            <a:fillRect/>
          </a:stretch>
        </p:blipFill>
        <p:spPr>
          <a:xfrm>
            <a:off x="3324860" y="4838700"/>
            <a:ext cx="5542280" cy="457200"/>
          </a:xfrm>
          <a:prstGeom prst="rect">
            <a:avLst/>
          </a:prstGeom>
        </p:spPr>
      </p:pic>
    </p:spTree>
    <p:extLst>
      <p:ext uri="{BB962C8B-B14F-4D97-AF65-F5344CB8AC3E}">
        <p14:creationId xmlns:p14="http://schemas.microsoft.com/office/powerpoint/2010/main" val="2345496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022"/>
            </a:gs>
            <a:gs pos="100000">
              <a:srgbClr val="060A18"/>
            </a:gs>
          </a:gsLst>
          <a:lin ang="5400000" scaled="0"/>
        </a:gradFill>
        <a:effectLst/>
      </p:bgPr>
    </p:bg>
    <p:spTree>
      <p:nvGrpSpPr>
        <p:cNvPr id="1" name=""/>
        <p:cNvGrpSpPr/>
        <p:nvPr/>
      </p:nvGrpSpPr>
      <p:grpSpPr>
        <a:xfrm>
          <a:off x="0" y="0"/>
          <a:ext cx="0" cy="0"/>
          <a:chOff x="0" y="0"/>
          <a:chExt cx="0" cy="0"/>
        </a:xfrm>
      </p:grpSpPr>
      <p:sp>
        <p:nvSpPr>
          <p:cNvPr id="20" name="Glow"/>
          <p:cNvSpPr/>
          <p:nvPr/>
        </p:nvSpPr>
        <p:spPr>
          <a:xfrm>
            <a:off x="6858000" y="0"/>
            <a:ext cx="5334000" cy="4318000"/>
          </a:xfrm>
          <a:prstGeom prst="ellipse">
            <a:avLst/>
          </a:prstGeom>
          <a:gradFill rotWithShape="1">
            <a:gsLst>
              <a:gs pos="0">
                <a:srgbClr val="1B6A8A">
                  <a:alpha val="40000"/>
                </a:srgbClr>
              </a:gs>
              <a:gs pos="65000">
                <a:srgbClr val="1B6A8A">
                  <a:alpha val="0"/>
                </a:srgbClr>
              </a:gs>
              <a:gs pos="100000">
                <a:srgbClr val="1B6A8A">
                  <a:alpha val="0"/>
                </a:srgbClr>
              </a:gs>
            </a:gsLst>
            <a:path path="circle">
              <a:fillToRect l="50000" t="50000" r="50000" b="50000"/>
            </a:path>
          </a:gradFill>
          <a:ln>
            <a:noFill/>
          </a:ln>
        </p:spPr>
        <p:txBody>
          <a:bodyPr rtlCol="0" anchor="ctr"/>
          <a:lstStyle/>
          <a:p>
            <a:endParaRPr lang="en-US" dirty="0"/>
          </a:p>
        </p:txBody>
      </p:sp>
      <p:sp>
        <p:nvSpPr>
          <p:cNvPr id="21" name="Top accent bar"/>
          <p:cNvSpPr/>
          <p:nvPr/>
        </p:nvSpPr>
        <p:spPr>
          <a:xfrm>
            <a:off x="0" y="0"/>
            <a:ext cx="12192000" cy="38100"/>
          </a:xfrm>
          <a:prstGeom prst="rect">
            <a:avLst/>
          </a:prstGeom>
          <a:gradFill rotWithShape="1">
            <a:gsLst>
              <a:gs pos="0">
                <a:srgbClr val="38D5F5"/>
              </a:gs>
              <a:gs pos="100000">
                <a:srgbClr val="9B8CFF"/>
              </a:gs>
            </a:gsLst>
            <a:lin ang="0" scaled="0"/>
          </a:gradFill>
          <a:ln>
            <a:noFill/>
          </a:ln>
        </p:spPr>
        <p:txBody>
          <a:bodyPr rtlCol="0" anchor="ctr"/>
          <a:lstStyle/>
          <a:p>
            <a:endParaRPr lang="en-US" dirty="0"/>
          </a:p>
        </p:txBody>
      </p:sp>
      <p:sp>
        <p:nvSpPr>
          <p:cNvPr id="22" name="Web card"/>
          <p:cNvSpPr/>
          <p:nvPr/>
        </p:nvSpPr>
        <p:spPr>
          <a:xfrm>
            <a:off x="812800" y="2096660"/>
            <a:ext cx="5130800" cy="3048000"/>
          </a:xfrm>
          <a:prstGeom prst="roundRect">
            <a:avLst>
              <a:gd name="adj" fmla="val 4000"/>
            </a:avLst>
          </a:prstGeom>
          <a:solidFill>
            <a:srgbClr val="0F1737"/>
          </a:solidFill>
          <a:ln w="12700">
            <a:solidFill>
              <a:srgbClr val="26305A"/>
            </a:solidFill>
          </a:ln>
        </p:spPr>
        <p:txBody>
          <a:bodyPr rtlCol="0" anchor="ctr"/>
          <a:lstStyle/>
          <a:p>
            <a:endParaRPr lang="en-US" dirty="0"/>
          </a:p>
        </p:txBody>
      </p:sp>
      <p:sp>
        <p:nvSpPr>
          <p:cNvPr id="23" name="Mobile card"/>
          <p:cNvSpPr/>
          <p:nvPr/>
        </p:nvSpPr>
        <p:spPr>
          <a:xfrm>
            <a:off x="6248400" y="2096660"/>
            <a:ext cx="5130800" cy="3048000"/>
          </a:xfrm>
          <a:prstGeom prst="roundRect">
            <a:avLst>
              <a:gd name="adj" fmla="val 4000"/>
            </a:avLst>
          </a:prstGeom>
          <a:solidFill>
            <a:srgbClr val="0F1737"/>
          </a:solidFill>
          <a:ln w="12700">
            <a:solidFill>
              <a:srgbClr val="26305A"/>
            </a:solidFill>
          </a:ln>
        </p:spPr>
        <p:txBody>
          <a:bodyPr rtlCol="0" anchor="ctr"/>
          <a:lstStyle/>
          <a:p>
            <a:endParaRPr lang="en-US" dirty="0"/>
          </a:p>
        </p:txBody>
      </p:sp>
      <p:pic>
        <p:nvPicPr>
          <p:cNvPr id="2" name="Graphic 2" descr="Globe icon for web acces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7600" y="2514600"/>
            <a:ext cx="381000" cy="381000"/>
          </a:xfrm>
          <a:prstGeom prst="rect">
            <a:avLst/>
          </a:prstGeom>
        </p:spPr>
      </p:pic>
      <p:pic>
        <p:nvPicPr>
          <p:cNvPr id="3" name="Graphic 3" descr="Phone icon for mobile app"/>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53200" y="2514600"/>
            <a:ext cx="381000" cy="381000"/>
          </a:xfrm>
          <a:prstGeom prst="rect">
            <a:avLst/>
          </a:prstGeom>
        </p:spPr>
      </p:pic>
      <p:sp>
        <p:nvSpPr>
          <p:cNvPr id="28" name="Eyebrow"/>
          <p:cNvSpPr txBox="1"/>
          <p:nvPr/>
        </p:nvSpPr>
        <p:spPr>
          <a:xfrm>
            <a:off x="812800" y="787400"/>
            <a:ext cx="6350000" cy="228600"/>
          </a:xfrm>
          <a:prstGeom prst="rect">
            <a:avLst/>
          </a:prstGeom>
          <a:noFill/>
        </p:spPr>
        <p:txBody>
          <a:bodyPr wrap="square" lIns="0" tIns="0" rIns="0" bIns="0" rtlCol="0" anchor="ctr">
            <a:noAutofit/>
          </a:bodyPr>
          <a:lstStyle/>
          <a:p>
            <a:pPr algn="l"/>
            <a:r>
              <a:rPr lang="en-US" sz="1400" b="0" spc="50" dirty="0">
                <a:solidFill>
                  <a:srgbClr val="38D5F5"/>
                </a:solidFill>
                <a:latin typeface="Consolas"/>
                <a:cs typeface="Consolas"/>
              </a:rPr>
              <a:t>// GETTING IN</a:t>
            </a:r>
          </a:p>
        </p:txBody>
      </p:sp>
      <p:sp>
        <p:nvSpPr>
          <p:cNvPr id="29" name="Title"/>
          <p:cNvSpPr txBox="1"/>
          <p:nvPr/>
        </p:nvSpPr>
        <p:spPr>
          <a:xfrm>
            <a:off x="812800" y="1066800"/>
            <a:ext cx="10566400" cy="558800"/>
          </a:xfrm>
          <a:prstGeom prst="rect">
            <a:avLst/>
          </a:prstGeom>
          <a:noFill/>
        </p:spPr>
        <p:txBody>
          <a:bodyPr wrap="square" lIns="0" tIns="0" rIns="0" bIns="0" rtlCol="0" anchor="ctr">
            <a:noAutofit/>
          </a:bodyPr>
          <a:lstStyle/>
          <a:p>
            <a:pPr algn="l"/>
            <a:r>
              <a:rPr lang="en-US" sz="3400" b="1" dirty="0">
                <a:solidFill>
                  <a:srgbClr val="F2F5FF"/>
                </a:solidFill>
                <a:latin typeface="DM Sans"/>
                <a:cs typeface="DM Sans"/>
              </a:rPr>
              <a:t>Three ways in: Web, Mobile app, Apps launcher</a:t>
            </a:r>
          </a:p>
        </p:txBody>
      </p:sp>
      <p:sp>
        <p:nvSpPr>
          <p:cNvPr id="30" name="Subtitle"/>
          <p:cNvSpPr txBox="1"/>
          <p:nvPr/>
        </p:nvSpPr>
        <p:spPr>
          <a:xfrm>
            <a:off x="812800" y="1701800"/>
            <a:ext cx="10566400" cy="330200"/>
          </a:xfrm>
          <a:prstGeom prst="rect">
            <a:avLst/>
          </a:prstGeom>
          <a:noFill/>
        </p:spPr>
        <p:txBody>
          <a:bodyPr wrap="square" lIns="0" tIns="0" rIns="0" bIns="0" rtlCol="0" anchor="t">
            <a:noAutofit/>
          </a:bodyPr>
          <a:lstStyle/>
          <a:p>
            <a:pPr algn="l"/>
            <a:r>
              <a:rPr lang="en-US" sz="1600" b="0" dirty="0">
                <a:solidFill>
                  <a:srgbClr val="C3CBE3"/>
                </a:solidFill>
                <a:latin typeface="DM Sans"/>
                <a:cs typeface="DM Sans"/>
              </a:rPr>
              <a:t>Same account, same notebooks. Pick the one that fits the moment.</a:t>
            </a:r>
          </a:p>
        </p:txBody>
      </p:sp>
      <p:sp>
        <p:nvSpPr>
          <p:cNvPr id="31" name="Heading On the web"/>
          <p:cNvSpPr txBox="1"/>
          <p:nvPr/>
        </p:nvSpPr>
        <p:spPr>
          <a:xfrm>
            <a:off x="1651000" y="2489200"/>
            <a:ext cx="3810000" cy="431800"/>
          </a:xfrm>
          <a:prstGeom prst="rect">
            <a:avLst/>
          </a:prstGeom>
          <a:noFill/>
        </p:spPr>
        <p:txBody>
          <a:bodyPr wrap="square" lIns="0" tIns="0" rIns="0" bIns="0" rtlCol="0" anchor="ctr">
            <a:noAutofit/>
          </a:bodyPr>
          <a:lstStyle/>
          <a:p>
            <a:pPr algn="l"/>
            <a:r>
              <a:rPr lang="en-US" sz="2200" b="1" dirty="0">
                <a:solidFill>
                  <a:srgbClr val="F2F5FF"/>
                </a:solidFill>
                <a:latin typeface="DM Sans"/>
                <a:cs typeface="DM Sans"/>
              </a:rPr>
              <a:t>On the web</a:t>
            </a:r>
          </a:p>
        </p:txBody>
      </p:sp>
      <p:sp>
        <p:nvSpPr>
          <p:cNvPr id="32" name="Label OPEN 88"/>
          <p:cNvSpPr txBox="1"/>
          <p:nvPr/>
        </p:nvSpPr>
        <p:spPr>
          <a:xfrm>
            <a:off x="1117600" y="3124200"/>
            <a:ext cx="4521200" cy="203200"/>
          </a:xfrm>
          <a:prstGeom prst="rect">
            <a:avLst/>
          </a:prstGeom>
          <a:noFill/>
        </p:spPr>
        <p:txBody>
          <a:bodyPr wrap="square" lIns="0" tIns="0" rIns="0" bIns="0" rtlCol="0" anchor="t">
            <a:noAutofit/>
          </a:bodyPr>
          <a:lstStyle/>
          <a:p>
            <a:pPr algn="l"/>
            <a:r>
              <a:rPr lang="en-US" sz="1300" b="0" spc="60" dirty="0">
                <a:solidFill>
                  <a:srgbClr val="8E98B8"/>
                </a:solidFill>
                <a:latin typeface="Consolas"/>
                <a:cs typeface="Consolas"/>
              </a:rPr>
              <a:t>OPEN</a:t>
            </a:r>
          </a:p>
        </p:txBody>
      </p:sp>
      <p:sp>
        <p:nvSpPr>
          <p:cNvPr id="33" name="Value OPEN 88"/>
          <p:cNvSpPr txBox="1"/>
          <p:nvPr/>
        </p:nvSpPr>
        <p:spPr>
          <a:xfrm>
            <a:off x="1117600" y="3352800"/>
            <a:ext cx="4572000" cy="330200"/>
          </a:xfrm>
          <a:prstGeom prst="rect">
            <a:avLst/>
          </a:prstGeom>
          <a:noFill/>
        </p:spPr>
        <p:txBody>
          <a:bodyPr wrap="square" lIns="0" tIns="0" rIns="0" bIns="0" rtlCol="0" anchor="t">
            <a:noAutofit/>
          </a:bodyPr>
          <a:lstStyle/>
          <a:p>
            <a:pPr algn="l"/>
            <a:r>
              <a:rPr lang="en-US" sz="1800" b="0" dirty="0">
                <a:solidFill>
                  <a:srgbClr val="F2F5FF"/>
                </a:solidFill>
                <a:latin typeface="DM Sans"/>
                <a:cs typeface="DM Sans"/>
              </a:rPr>
              <a:t>notebook.google.com in any browser</a:t>
            </a:r>
          </a:p>
        </p:txBody>
      </p:sp>
      <p:sp>
        <p:nvSpPr>
          <p:cNvPr id="34" name="Label SIGN IN 88"/>
          <p:cNvSpPr txBox="1"/>
          <p:nvPr/>
        </p:nvSpPr>
        <p:spPr>
          <a:xfrm>
            <a:off x="1117600" y="3835400"/>
            <a:ext cx="4521200" cy="203200"/>
          </a:xfrm>
          <a:prstGeom prst="rect">
            <a:avLst/>
          </a:prstGeom>
          <a:noFill/>
        </p:spPr>
        <p:txBody>
          <a:bodyPr wrap="square" lIns="0" tIns="0" rIns="0" bIns="0" rtlCol="0" anchor="t">
            <a:noAutofit/>
          </a:bodyPr>
          <a:lstStyle/>
          <a:p>
            <a:pPr algn="l"/>
            <a:r>
              <a:rPr lang="en-US" sz="1300" b="0" spc="60" dirty="0">
                <a:solidFill>
                  <a:srgbClr val="8E98B8"/>
                </a:solidFill>
                <a:latin typeface="Consolas"/>
                <a:cs typeface="Consolas"/>
              </a:rPr>
              <a:t>SIGN IN</a:t>
            </a:r>
          </a:p>
        </p:txBody>
      </p:sp>
      <p:sp>
        <p:nvSpPr>
          <p:cNvPr id="35" name="Value SIGN IN 88"/>
          <p:cNvSpPr txBox="1"/>
          <p:nvPr/>
        </p:nvSpPr>
        <p:spPr>
          <a:xfrm>
            <a:off x="1117600" y="4064000"/>
            <a:ext cx="4572000" cy="330200"/>
          </a:xfrm>
          <a:prstGeom prst="rect">
            <a:avLst/>
          </a:prstGeom>
          <a:noFill/>
        </p:spPr>
        <p:txBody>
          <a:bodyPr wrap="square" lIns="0" tIns="0" rIns="0" bIns="0" rtlCol="0" anchor="t">
            <a:noAutofit/>
          </a:bodyPr>
          <a:lstStyle/>
          <a:p>
            <a:pPr algn="l"/>
            <a:r>
              <a:rPr lang="en-US" sz="1800" b="0" dirty="0">
                <a:solidFill>
                  <a:srgbClr val="F2F5FF"/>
                </a:solidFill>
                <a:latin typeface="DM Sans"/>
                <a:cs typeface="DM Sans"/>
              </a:rPr>
              <a:t>Your UA NetID</a:t>
            </a:r>
          </a:p>
        </p:txBody>
      </p:sp>
      <p:sp>
        <p:nvSpPr>
          <p:cNvPr id="36" name="Label BEST FOR 88"/>
          <p:cNvSpPr txBox="1"/>
          <p:nvPr/>
        </p:nvSpPr>
        <p:spPr>
          <a:xfrm>
            <a:off x="1117600" y="4546600"/>
            <a:ext cx="4521200" cy="203200"/>
          </a:xfrm>
          <a:prstGeom prst="rect">
            <a:avLst/>
          </a:prstGeom>
          <a:noFill/>
        </p:spPr>
        <p:txBody>
          <a:bodyPr wrap="square" lIns="0" tIns="0" rIns="0" bIns="0" rtlCol="0" anchor="t">
            <a:noAutofit/>
          </a:bodyPr>
          <a:lstStyle/>
          <a:p>
            <a:pPr algn="l"/>
            <a:r>
              <a:rPr lang="en-US" sz="1300" b="0" spc="60" dirty="0">
                <a:solidFill>
                  <a:srgbClr val="8E98B8"/>
                </a:solidFill>
                <a:latin typeface="Consolas"/>
                <a:cs typeface="Consolas"/>
              </a:rPr>
              <a:t>BEST FOR</a:t>
            </a:r>
          </a:p>
        </p:txBody>
      </p:sp>
      <p:sp>
        <p:nvSpPr>
          <p:cNvPr id="37" name="Value BEST FOR 88"/>
          <p:cNvSpPr txBox="1"/>
          <p:nvPr/>
        </p:nvSpPr>
        <p:spPr>
          <a:xfrm>
            <a:off x="1117600" y="4775200"/>
            <a:ext cx="4572000" cy="330200"/>
          </a:xfrm>
          <a:prstGeom prst="rect">
            <a:avLst/>
          </a:prstGeom>
          <a:noFill/>
        </p:spPr>
        <p:txBody>
          <a:bodyPr wrap="square" lIns="0" tIns="0" rIns="0" bIns="0" rtlCol="0" anchor="t">
            <a:noAutofit/>
          </a:bodyPr>
          <a:lstStyle/>
          <a:p>
            <a:pPr algn="l"/>
            <a:r>
              <a:rPr lang="en-US" sz="1800" b="0" dirty="0">
                <a:solidFill>
                  <a:srgbClr val="F2F5FF"/>
                </a:solidFill>
                <a:latin typeface="DM Sans"/>
                <a:cs typeface="DM Sans"/>
              </a:rPr>
              <a:t>Building and organizing notebooks</a:t>
            </a:r>
          </a:p>
        </p:txBody>
      </p:sp>
      <p:sp>
        <p:nvSpPr>
          <p:cNvPr id="38" name="Heading On your phone"/>
          <p:cNvSpPr txBox="1"/>
          <p:nvPr/>
        </p:nvSpPr>
        <p:spPr>
          <a:xfrm>
            <a:off x="7086600" y="2489200"/>
            <a:ext cx="3810000" cy="431800"/>
          </a:xfrm>
          <a:prstGeom prst="rect">
            <a:avLst/>
          </a:prstGeom>
          <a:noFill/>
        </p:spPr>
        <p:txBody>
          <a:bodyPr wrap="square" lIns="0" tIns="0" rIns="0" bIns="0" rtlCol="0" anchor="ctr">
            <a:noAutofit/>
          </a:bodyPr>
          <a:lstStyle/>
          <a:p>
            <a:pPr algn="l"/>
            <a:r>
              <a:rPr lang="en-US" sz="2200" b="1" dirty="0">
                <a:solidFill>
                  <a:srgbClr val="F2F5FF"/>
                </a:solidFill>
                <a:latin typeface="DM Sans"/>
                <a:cs typeface="DM Sans"/>
              </a:rPr>
              <a:t>On your phone</a:t>
            </a:r>
          </a:p>
        </p:txBody>
      </p:sp>
      <p:sp>
        <p:nvSpPr>
          <p:cNvPr id="39" name="Label GET IT 516"/>
          <p:cNvSpPr txBox="1"/>
          <p:nvPr/>
        </p:nvSpPr>
        <p:spPr>
          <a:xfrm>
            <a:off x="6553200" y="3124200"/>
            <a:ext cx="4521200" cy="203200"/>
          </a:xfrm>
          <a:prstGeom prst="rect">
            <a:avLst/>
          </a:prstGeom>
          <a:noFill/>
        </p:spPr>
        <p:txBody>
          <a:bodyPr wrap="square" lIns="0" tIns="0" rIns="0" bIns="0" rtlCol="0" anchor="t">
            <a:noAutofit/>
          </a:bodyPr>
          <a:lstStyle/>
          <a:p>
            <a:pPr algn="l"/>
            <a:r>
              <a:rPr lang="en-US" sz="1300" b="0" spc="60" dirty="0">
                <a:solidFill>
                  <a:srgbClr val="8E98B8"/>
                </a:solidFill>
                <a:latin typeface="Consolas"/>
                <a:cs typeface="Consolas"/>
              </a:rPr>
              <a:t>GET IT</a:t>
            </a:r>
          </a:p>
        </p:txBody>
      </p:sp>
      <p:sp>
        <p:nvSpPr>
          <p:cNvPr id="40" name="Value GET IT 516"/>
          <p:cNvSpPr txBox="1"/>
          <p:nvPr/>
        </p:nvSpPr>
        <p:spPr>
          <a:xfrm>
            <a:off x="6553200" y="3352800"/>
            <a:ext cx="4572000" cy="330200"/>
          </a:xfrm>
          <a:prstGeom prst="rect">
            <a:avLst/>
          </a:prstGeom>
          <a:noFill/>
        </p:spPr>
        <p:txBody>
          <a:bodyPr wrap="square" lIns="0" tIns="0" rIns="0" bIns="0" rtlCol="0" anchor="t">
            <a:noAutofit/>
          </a:bodyPr>
          <a:lstStyle/>
          <a:p>
            <a:pPr algn="l"/>
            <a:r>
              <a:rPr lang="en-US" dirty="0">
                <a:solidFill>
                  <a:srgbClr val="F2F5FF"/>
                </a:solidFill>
                <a:latin typeface="DM Sans"/>
                <a:cs typeface="DM Sans"/>
              </a:rPr>
              <a:t>App name - </a:t>
            </a:r>
            <a:r>
              <a:rPr lang="en-US" sz="1800" b="0" dirty="0">
                <a:solidFill>
                  <a:srgbClr val="F2F5FF"/>
                </a:solidFill>
                <a:latin typeface="DM Sans"/>
                <a:cs typeface="DM Sans"/>
              </a:rPr>
              <a:t>Notebook</a:t>
            </a:r>
          </a:p>
        </p:txBody>
      </p:sp>
      <p:sp>
        <p:nvSpPr>
          <p:cNvPr id="41" name="Label NEEDS 516"/>
          <p:cNvSpPr txBox="1"/>
          <p:nvPr/>
        </p:nvSpPr>
        <p:spPr>
          <a:xfrm>
            <a:off x="6553200" y="3835400"/>
            <a:ext cx="4521200" cy="203200"/>
          </a:xfrm>
          <a:prstGeom prst="rect">
            <a:avLst/>
          </a:prstGeom>
          <a:noFill/>
        </p:spPr>
        <p:txBody>
          <a:bodyPr wrap="square" lIns="0" tIns="0" rIns="0" bIns="0" rtlCol="0" anchor="t">
            <a:noAutofit/>
          </a:bodyPr>
          <a:lstStyle/>
          <a:p>
            <a:pPr algn="l"/>
            <a:r>
              <a:rPr lang="en-US" sz="1300" b="0" spc="60" dirty="0">
                <a:solidFill>
                  <a:srgbClr val="8E98B8"/>
                </a:solidFill>
                <a:latin typeface="Consolas"/>
                <a:cs typeface="Consolas"/>
              </a:rPr>
              <a:t>NEEDS</a:t>
            </a:r>
          </a:p>
        </p:txBody>
      </p:sp>
      <p:sp>
        <p:nvSpPr>
          <p:cNvPr id="42" name="Value NEEDS 516"/>
          <p:cNvSpPr txBox="1"/>
          <p:nvPr/>
        </p:nvSpPr>
        <p:spPr>
          <a:xfrm>
            <a:off x="6553200" y="4064000"/>
            <a:ext cx="4572000" cy="330200"/>
          </a:xfrm>
          <a:prstGeom prst="rect">
            <a:avLst/>
          </a:prstGeom>
          <a:noFill/>
        </p:spPr>
        <p:txBody>
          <a:bodyPr wrap="square" lIns="0" tIns="0" rIns="0" bIns="0" rtlCol="0" anchor="t">
            <a:noAutofit/>
          </a:bodyPr>
          <a:lstStyle/>
          <a:p>
            <a:pPr algn="l"/>
            <a:r>
              <a:rPr lang="en-US" sz="1800" b="0" dirty="0">
                <a:solidFill>
                  <a:srgbClr val="F2F5FF"/>
                </a:solidFill>
                <a:latin typeface="DM Sans"/>
                <a:cs typeface="DM Sans"/>
              </a:rPr>
              <a:t>iOS 17+ or Android 10+, free</a:t>
            </a:r>
          </a:p>
        </p:txBody>
      </p:sp>
      <p:sp>
        <p:nvSpPr>
          <p:cNvPr id="43" name="Label BEST FOR 516"/>
          <p:cNvSpPr txBox="1"/>
          <p:nvPr/>
        </p:nvSpPr>
        <p:spPr>
          <a:xfrm>
            <a:off x="6553200" y="4546600"/>
            <a:ext cx="4521200" cy="203200"/>
          </a:xfrm>
          <a:prstGeom prst="rect">
            <a:avLst/>
          </a:prstGeom>
          <a:noFill/>
        </p:spPr>
        <p:txBody>
          <a:bodyPr wrap="square" lIns="0" tIns="0" rIns="0" bIns="0" rtlCol="0" anchor="t">
            <a:noAutofit/>
          </a:bodyPr>
          <a:lstStyle/>
          <a:p>
            <a:pPr algn="l"/>
            <a:r>
              <a:rPr lang="en-US" sz="1300" b="0" spc="60" dirty="0">
                <a:solidFill>
                  <a:srgbClr val="8E98B8"/>
                </a:solidFill>
                <a:latin typeface="Consolas"/>
                <a:cs typeface="Consolas"/>
              </a:rPr>
              <a:t>BEST FOR</a:t>
            </a:r>
          </a:p>
        </p:txBody>
      </p:sp>
      <p:sp>
        <p:nvSpPr>
          <p:cNvPr id="44" name="Value BEST FOR 516"/>
          <p:cNvSpPr txBox="1"/>
          <p:nvPr/>
        </p:nvSpPr>
        <p:spPr>
          <a:xfrm>
            <a:off x="6553200" y="4749800"/>
            <a:ext cx="4826000" cy="355600"/>
          </a:xfrm>
          <a:prstGeom prst="rect">
            <a:avLst/>
          </a:prstGeom>
          <a:noFill/>
        </p:spPr>
        <p:txBody>
          <a:bodyPr wrap="square" lIns="0" tIns="0" rIns="0" bIns="0" rtlCol="0" anchor="t">
            <a:noAutofit/>
          </a:bodyPr>
          <a:lstStyle/>
          <a:p>
            <a:pPr algn="l"/>
            <a:r>
              <a:rPr lang="en-US" sz="1800" b="0" dirty="0">
                <a:solidFill>
                  <a:srgbClr val="F2F5FF"/>
                </a:solidFill>
                <a:latin typeface="DM Sans"/>
                <a:cs typeface="DM Sans"/>
              </a:rPr>
              <a:t>Listening audio overviews &amp; quick questions</a:t>
            </a:r>
          </a:p>
        </p:txBody>
      </p:sp>
      <p:sp>
        <p:nvSpPr>
          <p:cNvPr id="47" name="Footer left"/>
          <p:cNvSpPr txBox="1"/>
          <p:nvPr/>
        </p:nvSpPr>
        <p:spPr>
          <a:xfrm>
            <a:off x="812800" y="6261100"/>
            <a:ext cx="5334000" cy="203200"/>
          </a:xfrm>
          <a:prstGeom prst="rect">
            <a:avLst/>
          </a:prstGeom>
          <a:noFill/>
        </p:spPr>
        <p:txBody>
          <a:bodyPr wrap="square" lIns="0" tIns="0" rIns="0" bIns="0" rtlCol="0" anchor="ctr">
            <a:noAutofit/>
          </a:bodyPr>
          <a:lstStyle/>
          <a:p>
            <a:pPr algn="l"/>
            <a:r>
              <a:rPr lang="en-US" sz="1200" b="0" spc="100" dirty="0">
                <a:solidFill>
                  <a:srgbClr val="8A93B2"/>
                </a:solidFill>
                <a:latin typeface="Consolas"/>
                <a:cs typeface="Consolas"/>
              </a:rPr>
              <a:t>GEMINI NOTEBOOK WORKSHOP · AI+ STUDIO</a:t>
            </a:r>
          </a:p>
        </p:txBody>
      </p:sp>
      <p:sp>
        <p:nvSpPr>
          <p:cNvPr id="48" name="Page number"/>
          <p:cNvSpPr txBox="1"/>
          <p:nvPr/>
        </p:nvSpPr>
        <p:spPr>
          <a:xfrm>
            <a:off x="8839200" y="62611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07 / 24</a:t>
            </a:r>
          </a:p>
        </p:txBody>
      </p:sp>
      <p:sp>
        <p:nvSpPr>
          <p:cNvPr id="5" name="Web card">
            <a:extLst>
              <a:ext uri="{FF2B5EF4-FFF2-40B4-BE49-F238E27FC236}">
                <a16:creationId xmlns:a16="http://schemas.microsoft.com/office/drawing/2014/main" id="{89495240-0737-39DA-1771-983573E2EF4D}"/>
              </a:ext>
            </a:extLst>
          </p:cNvPr>
          <p:cNvSpPr/>
          <p:nvPr/>
        </p:nvSpPr>
        <p:spPr>
          <a:xfrm>
            <a:off x="812800" y="5331691"/>
            <a:ext cx="10566400" cy="840509"/>
          </a:xfrm>
          <a:prstGeom prst="roundRect">
            <a:avLst>
              <a:gd name="adj" fmla="val 4000"/>
            </a:avLst>
          </a:prstGeom>
          <a:solidFill>
            <a:srgbClr val="0F1737"/>
          </a:solidFill>
          <a:ln w="12700">
            <a:solidFill>
              <a:srgbClr val="26305A"/>
            </a:solidFill>
          </a:ln>
        </p:spPr>
        <p:txBody>
          <a:bodyPr rtlCol="0" anchor="ctr"/>
          <a:lstStyle/>
          <a:p>
            <a:endParaRPr lang="en-US" dirty="0"/>
          </a:p>
        </p:txBody>
      </p:sp>
      <p:sp>
        <p:nvSpPr>
          <p:cNvPr id="60" name="Launcher dot 1"/>
          <p:cNvSpPr/>
          <p:nvPr/>
        </p:nvSpPr>
        <p:spPr>
          <a:xfrm>
            <a:off x="1130300" y="5588000"/>
            <a:ext cx="76200" cy="76200"/>
          </a:xfrm>
          <a:prstGeom prst="ellipse">
            <a:avLst/>
          </a:prstGeom>
          <a:solidFill>
            <a:srgbClr val="38C8F0"/>
          </a:solidFill>
          <a:ln>
            <a:noFill/>
          </a:ln>
        </p:spPr>
        <p:txBody>
          <a:bodyPr/>
          <a:lstStyle/>
          <a:p>
            <a:endParaRPr lang="en-US"/>
          </a:p>
        </p:txBody>
      </p:sp>
      <p:sp>
        <p:nvSpPr>
          <p:cNvPr id="61" name="Launcher dot 2"/>
          <p:cNvSpPr/>
          <p:nvPr/>
        </p:nvSpPr>
        <p:spPr>
          <a:xfrm>
            <a:off x="1270000" y="5588000"/>
            <a:ext cx="76200" cy="76200"/>
          </a:xfrm>
          <a:prstGeom prst="ellipse">
            <a:avLst/>
          </a:prstGeom>
          <a:solidFill>
            <a:srgbClr val="38C8F0"/>
          </a:solidFill>
          <a:ln>
            <a:noFill/>
          </a:ln>
        </p:spPr>
        <p:txBody>
          <a:bodyPr/>
          <a:lstStyle/>
          <a:p>
            <a:endParaRPr lang="en-US"/>
          </a:p>
        </p:txBody>
      </p:sp>
      <p:sp>
        <p:nvSpPr>
          <p:cNvPr id="62" name="Launcher dot 3"/>
          <p:cNvSpPr/>
          <p:nvPr/>
        </p:nvSpPr>
        <p:spPr>
          <a:xfrm>
            <a:off x="1409700" y="5588000"/>
            <a:ext cx="76200" cy="76200"/>
          </a:xfrm>
          <a:prstGeom prst="ellipse">
            <a:avLst/>
          </a:prstGeom>
          <a:solidFill>
            <a:srgbClr val="38C8F0"/>
          </a:solidFill>
          <a:ln>
            <a:noFill/>
          </a:ln>
        </p:spPr>
        <p:txBody>
          <a:bodyPr/>
          <a:lstStyle/>
          <a:p>
            <a:endParaRPr lang="en-US"/>
          </a:p>
        </p:txBody>
      </p:sp>
      <p:sp>
        <p:nvSpPr>
          <p:cNvPr id="63" name="Launcher dot 4"/>
          <p:cNvSpPr/>
          <p:nvPr/>
        </p:nvSpPr>
        <p:spPr>
          <a:xfrm>
            <a:off x="1130300" y="5727700"/>
            <a:ext cx="76200" cy="76200"/>
          </a:xfrm>
          <a:prstGeom prst="ellipse">
            <a:avLst/>
          </a:prstGeom>
          <a:solidFill>
            <a:srgbClr val="38C8F0"/>
          </a:solidFill>
          <a:ln>
            <a:noFill/>
          </a:ln>
        </p:spPr>
        <p:txBody>
          <a:bodyPr/>
          <a:lstStyle/>
          <a:p>
            <a:endParaRPr lang="en-US"/>
          </a:p>
        </p:txBody>
      </p:sp>
      <p:sp>
        <p:nvSpPr>
          <p:cNvPr id="64" name="Launcher dot 5"/>
          <p:cNvSpPr/>
          <p:nvPr/>
        </p:nvSpPr>
        <p:spPr>
          <a:xfrm>
            <a:off x="1270000" y="5727700"/>
            <a:ext cx="76200" cy="76200"/>
          </a:xfrm>
          <a:prstGeom prst="ellipse">
            <a:avLst/>
          </a:prstGeom>
          <a:solidFill>
            <a:srgbClr val="38C8F0"/>
          </a:solidFill>
          <a:ln>
            <a:noFill/>
          </a:ln>
        </p:spPr>
        <p:txBody>
          <a:bodyPr/>
          <a:lstStyle/>
          <a:p>
            <a:endParaRPr lang="en-US"/>
          </a:p>
        </p:txBody>
      </p:sp>
      <p:sp>
        <p:nvSpPr>
          <p:cNvPr id="65" name="Launcher dot 6"/>
          <p:cNvSpPr/>
          <p:nvPr/>
        </p:nvSpPr>
        <p:spPr>
          <a:xfrm>
            <a:off x="1409700" y="5727700"/>
            <a:ext cx="76200" cy="76200"/>
          </a:xfrm>
          <a:prstGeom prst="ellipse">
            <a:avLst/>
          </a:prstGeom>
          <a:solidFill>
            <a:srgbClr val="38C8F0"/>
          </a:solidFill>
          <a:ln>
            <a:noFill/>
          </a:ln>
        </p:spPr>
        <p:txBody>
          <a:bodyPr/>
          <a:lstStyle/>
          <a:p>
            <a:endParaRPr lang="en-US"/>
          </a:p>
        </p:txBody>
      </p:sp>
      <p:sp>
        <p:nvSpPr>
          <p:cNvPr id="66" name="Launcher dot 7"/>
          <p:cNvSpPr/>
          <p:nvPr/>
        </p:nvSpPr>
        <p:spPr>
          <a:xfrm>
            <a:off x="1130300" y="5867400"/>
            <a:ext cx="76200" cy="76200"/>
          </a:xfrm>
          <a:prstGeom prst="ellipse">
            <a:avLst/>
          </a:prstGeom>
          <a:solidFill>
            <a:srgbClr val="38C8F0"/>
          </a:solidFill>
          <a:ln>
            <a:noFill/>
          </a:ln>
        </p:spPr>
        <p:txBody>
          <a:bodyPr/>
          <a:lstStyle/>
          <a:p>
            <a:endParaRPr lang="en-US"/>
          </a:p>
        </p:txBody>
      </p:sp>
      <p:sp>
        <p:nvSpPr>
          <p:cNvPr id="67" name="Launcher dot 8"/>
          <p:cNvSpPr/>
          <p:nvPr/>
        </p:nvSpPr>
        <p:spPr>
          <a:xfrm>
            <a:off x="1270000" y="5867400"/>
            <a:ext cx="76200" cy="76200"/>
          </a:xfrm>
          <a:prstGeom prst="ellipse">
            <a:avLst/>
          </a:prstGeom>
          <a:solidFill>
            <a:srgbClr val="38C8F0"/>
          </a:solidFill>
          <a:ln>
            <a:noFill/>
          </a:ln>
        </p:spPr>
        <p:txBody>
          <a:bodyPr/>
          <a:lstStyle/>
          <a:p>
            <a:endParaRPr lang="en-US"/>
          </a:p>
        </p:txBody>
      </p:sp>
      <p:sp>
        <p:nvSpPr>
          <p:cNvPr id="68" name="Launcher dot 9"/>
          <p:cNvSpPr/>
          <p:nvPr/>
        </p:nvSpPr>
        <p:spPr>
          <a:xfrm>
            <a:off x="1409700" y="5867400"/>
            <a:ext cx="76200" cy="76200"/>
          </a:xfrm>
          <a:prstGeom prst="ellipse">
            <a:avLst/>
          </a:prstGeom>
          <a:solidFill>
            <a:srgbClr val="38C8F0"/>
          </a:solidFill>
          <a:ln>
            <a:noFill/>
          </a:ln>
        </p:spPr>
        <p:txBody>
          <a:bodyPr/>
          <a:lstStyle/>
          <a:p>
            <a:endParaRPr lang="en-US"/>
          </a:p>
        </p:txBody>
      </p:sp>
      <p:sp>
        <p:nvSpPr>
          <p:cNvPr id="69" name="Label ANOTHER WAY"/>
          <p:cNvSpPr txBox="1"/>
          <p:nvPr/>
        </p:nvSpPr>
        <p:spPr>
          <a:xfrm>
            <a:off x="1803400" y="5473700"/>
            <a:ext cx="8890000" cy="203200"/>
          </a:xfrm>
          <a:prstGeom prst="rect">
            <a:avLst/>
          </a:prstGeom>
          <a:noFill/>
        </p:spPr>
        <p:txBody>
          <a:bodyPr wrap="square" lIns="0" tIns="0" rIns="0" bIns="0" anchor="t">
            <a:noAutofit/>
          </a:bodyPr>
          <a:lstStyle/>
          <a:p>
            <a:pPr algn="l"/>
            <a:r>
              <a:rPr lang="en-US" sz="1300" b="0" spc="60" dirty="0">
                <a:solidFill>
                  <a:srgbClr val="8E98B8"/>
                </a:solidFill>
                <a:latin typeface="Consolas"/>
                <a:cs typeface="Consolas"/>
              </a:rPr>
              <a:t>ANOTHER WAY IN</a:t>
            </a:r>
          </a:p>
        </p:txBody>
      </p:sp>
      <p:sp>
        <p:nvSpPr>
          <p:cNvPr id="70" name="Value launcher"/>
          <p:cNvSpPr txBox="1"/>
          <p:nvPr/>
        </p:nvSpPr>
        <p:spPr>
          <a:xfrm>
            <a:off x="1803400" y="5702300"/>
            <a:ext cx="9271000" cy="330200"/>
          </a:xfrm>
          <a:prstGeom prst="rect">
            <a:avLst/>
          </a:prstGeom>
          <a:noFill/>
        </p:spPr>
        <p:txBody>
          <a:bodyPr wrap="square" lIns="0" tIns="0" rIns="0" bIns="0" anchor="t">
            <a:noAutofit/>
          </a:bodyPr>
          <a:lstStyle/>
          <a:p>
            <a:pPr algn="l"/>
            <a:r>
              <a:rPr lang="en-US" sz="1800" b="0" dirty="0">
                <a:solidFill>
                  <a:srgbClr val="F2F5FF"/>
                </a:solidFill>
                <a:latin typeface="DM Sans"/>
                <a:cs typeface="DM Sans"/>
              </a:rPr>
              <a:t>Open the Google launcher (9 dots), scroll down, select Notebook icon</a:t>
            </a:r>
          </a:p>
        </p:txBody>
      </p:sp>
    </p:spTree>
    <p:extLst>
      <p:ext uri="{BB962C8B-B14F-4D97-AF65-F5344CB8AC3E}">
        <p14:creationId xmlns:p14="http://schemas.microsoft.com/office/powerpoint/2010/main" val="1181925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 BEFORE WE DIVE IN Let's experience something cool  Listen to an AI podcast that Gemini Notebook made with a single click. Guess: how long did it take to make?">
            <a:hlinkClick r:id="rId3"/>
          </p:cNvPr>
          <p:cNvPicPr>
            <a:picLocks noChangeAspect="1"/>
          </p:cNvPicPr>
          <p:nvPr/>
        </p:nvPicPr>
        <p:blipFill>
          <a:blip r:embed="rId4"/>
          <a:stretch>
            <a:fillRect/>
          </a:stretch>
        </p:blipFill>
        <p:spPr>
          <a:xfrm>
            <a:off x="0" y="0"/>
            <a:ext cx="12192000" cy="6858000"/>
          </a:xfrm>
          <a:prstGeom prst="rect">
            <a:avLst/>
          </a:prstGeom>
        </p:spPr>
      </p:pic>
      <p:pic>
        <p:nvPicPr>
          <p:cNvPr id="3" name="Text patch"/>
          <p:cNvPicPr>
            <a:picLocks noChangeAspect="1"/>
          </p:cNvPicPr>
          <p:nvPr/>
        </p:nvPicPr>
        <p:blipFill>
          <a:blip r:embed="rId4"/>
          <a:srcRect l="4167" t="80000" r="6250" b="14444"/>
          <a:stretch>
            <a:fillRect/>
          </a:stretch>
        </p:blipFill>
        <p:spPr>
          <a:xfrm>
            <a:off x="508000" y="4394200"/>
            <a:ext cx="10922000" cy="381000"/>
          </a:xfrm>
          <a:prstGeom prst="rect">
            <a:avLst/>
          </a:prstGeom>
        </p:spPr>
      </p:pic>
      <p:sp>
        <p:nvSpPr>
          <p:cNvPr id="4" name="Podcast line"/>
          <p:cNvSpPr txBox="1"/>
          <p:nvPr/>
        </p:nvSpPr>
        <p:spPr>
          <a:xfrm>
            <a:off x="812800" y="4394200"/>
            <a:ext cx="10566400" cy="381000"/>
          </a:xfrm>
          <a:prstGeom prst="rect">
            <a:avLst/>
          </a:prstGeom>
          <a:noFill/>
        </p:spPr>
        <p:txBody>
          <a:bodyPr wrap="square" lIns="0" tIns="0" rIns="0" bIns="0" anchor="ctr">
            <a:noAutofit/>
          </a:bodyPr>
          <a:lstStyle/>
          <a:p>
            <a:pPr algn="l"/>
            <a:r>
              <a:rPr lang="en-US" sz="1600" b="0" dirty="0">
                <a:solidFill>
                  <a:srgbClr val="EDEBFA"/>
                </a:solidFill>
                <a:latin typeface="DM Sans"/>
                <a:cs typeface="DM Sans"/>
              </a:rPr>
              <a:t>Listen to an AI podcast that Gemini Notebook made with a single click.</a:t>
            </a:r>
          </a:p>
        </p:txBody>
      </p:sp>
    </p:spTree>
    <p:extLst>
      <p:ext uri="{BB962C8B-B14F-4D97-AF65-F5344CB8AC3E}">
        <p14:creationId xmlns:p14="http://schemas.microsoft.com/office/powerpoint/2010/main" val="112329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 The basics Gemini Notebook at a glance A free, AI-powered research and note-taking app from Google, formerly NotebookLM. It helps you analyze, summarize and learn from your own documents.  WHO BUILT IT Google Built by Google Labs, Google’s team for AI experiments  WHEN Since 2023 Shown as Project Tailwind in May 2023, launched that July  WHAT POWERS IT Gemini Runs on Gemini, the same AI behind Google’s Gemini app  Sources · what you can upload PDF  Docs  Slides  Sheets  Web  YouTube  Audio Images  TXT/CSV  EPUB  Chat Ask, get cited answers  You get Cited answers Podcasts Quizzes Flashcards Mind maps GEMINI NOTEBOOK WORKSHOP · AI+ STUDIO 06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06 / 24</a:t>
            </a:r>
          </a:p>
        </p:txBody>
      </p:sp>
      <p:pic>
        <p:nvPicPr>
          <p:cNvPr id="920" name="Bg patch L"/>
          <p:cNvPicPr>
            <a:picLocks noChangeAspect="1"/>
          </p:cNvPicPr>
          <p:nvPr/>
        </p:nvPicPr>
        <p:blipFill>
          <a:blip r:embed="rId3"/>
          <a:srcRect l="625" t="34815" r="94167" b="15926"/>
          <a:stretch>
            <a:fillRect/>
          </a:stretch>
        </p:blipFill>
        <p:spPr>
          <a:xfrm>
            <a:off x="711200" y="2387600"/>
            <a:ext cx="10769600" cy="3378200"/>
          </a:xfrm>
          <a:prstGeom prst="rect">
            <a:avLst/>
          </a:prstGeom>
          <a:effectLst>
            <a:softEdge rad="76200"/>
          </a:effectLst>
        </p:spPr>
      </p:pic>
      <p:pic>
        <p:nvPicPr>
          <p:cNvPr id="950" name="Bg patch R"/>
          <p:cNvPicPr>
            <a:picLocks noChangeAspect="1"/>
          </p:cNvPicPr>
          <p:nvPr/>
        </p:nvPicPr>
        <p:blipFill>
          <a:blip r:embed="rId3"/>
          <a:srcRect l="94167" t="34815" r="625" b="15926"/>
          <a:stretch>
            <a:fillRect/>
          </a:stretch>
        </p:blipFill>
        <p:spPr>
          <a:xfrm>
            <a:off x="4826000" y="2387600"/>
            <a:ext cx="6654800" cy="3378200"/>
          </a:xfrm>
          <a:prstGeom prst="rect">
            <a:avLst/>
          </a:prstGeom>
          <a:effectLst>
            <a:softEdge rad="508000"/>
          </a:effectLst>
        </p:spPr>
      </p:pic>
      <p:pic>
        <p:nvPicPr>
          <p:cNvPr id="921" name="Top card 1"/>
          <p:cNvPicPr>
            <a:picLocks noChangeAspect="1"/>
          </p:cNvPicPr>
          <p:nvPr/>
        </p:nvPicPr>
        <p:blipFill>
          <a:blip r:embed="rId3"/>
          <a:srcRect l="6667" t="37222" r="65312" b="38796"/>
          <a:stretch>
            <a:fillRect/>
          </a:stretch>
        </p:blipFill>
        <p:spPr>
          <a:xfrm>
            <a:off x="1897005" y="2576512"/>
            <a:ext cx="1912904" cy="920896"/>
          </a:xfrm>
          <a:prstGeom prst="roundRect">
            <a:avLst>
              <a:gd name="adj" fmla="val 8494"/>
            </a:avLst>
          </a:prstGeom>
        </p:spPr>
      </p:pic>
      <p:pic>
        <p:nvPicPr>
          <p:cNvPr id="922" name="Top card 2"/>
          <p:cNvPicPr>
            <a:picLocks noChangeAspect="1"/>
          </p:cNvPicPr>
          <p:nvPr/>
        </p:nvPicPr>
        <p:blipFill>
          <a:blip r:embed="rId3"/>
          <a:srcRect l="35990" t="37222" r="36042" b="38796"/>
          <a:stretch>
            <a:fillRect/>
          </a:stretch>
        </p:blipFill>
        <p:spPr>
          <a:xfrm>
            <a:off x="4938803" y="2509804"/>
            <a:ext cx="2047658" cy="987604"/>
          </a:xfrm>
          <a:prstGeom prst="roundRect">
            <a:avLst>
              <a:gd name="adj" fmla="val 8494"/>
            </a:avLst>
          </a:prstGeom>
        </p:spPr>
      </p:pic>
      <p:pic>
        <p:nvPicPr>
          <p:cNvPr id="923" name="Top card 3"/>
          <p:cNvPicPr>
            <a:picLocks noChangeAspect="1"/>
          </p:cNvPicPr>
          <p:nvPr/>
        </p:nvPicPr>
        <p:blipFill>
          <a:blip r:embed="rId3"/>
          <a:srcRect l="65260" t="37222" r="6719" b="38796"/>
          <a:stretch>
            <a:fillRect/>
          </a:stretch>
        </p:blipFill>
        <p:spPr>
          <a:xfrm>
            <a:off x="7924709" y="2563001"/>
            <a:ext cx="1969031" cy="947917"/>
          </a:xfrm>
          <a:prstGeom prst="roundRect">
            <a:avLst>
              <a:gd name="adj" fmla="val 8494"/>
            </a:avLst>
          </a:prstGeom>
        </p:spPr>
      </p:pic>
      <p:pic>
        <p:nvPicPr>
          <p:cNvPr id="924" name="Bottom card 1"/>
          <p:cNvPicPr>
            <a:picLocks noChangeAspect="1"/>
          </p:cNvPicPr>
          <p:nvPr/>
        </p:nvPicPr>
        <p:blipFill>
          <a:blip r:embed="rId3"/>
          <a:srcRect l="6667" t="64167" r="50365" b="18426"/>
          <a:stretch>
            <a:fillRect/>
          </a:stretch>
        </p:blipFill>
        <p:spPr>
          <a:xfrm>
            <a:off x="303327" y="3860667"/>
            <a:ext cx="6070600" cy="1437365"/>
          </a:xfrm>
          <a:prstGeom prst="roundRect">
            <a:avLst>
              <a:gd name="adj" fmla="val 11702"/>
            </a:avLst>
          </a:prstGeom>
        </p:spPr>
      </p:pic>
      <p:pic>
        <p:nvPicPr>
          <p:cNvPr id="925" name="Bottom card 2"/>
          <p:cNvPicPr>
            <a:picLocks noChangeAspect="1"/>
          </p:cNvPicPr>
          <p:nvPr/>
        </p:nvPicPr>
        <p:blipFill>
          <a:blip r:embed="rId3"/>
          <a:srcRect l="50521" t="64167" r="40052" b="18426"/>
          <a:stretch>
            <a:fillRect/>
          </a:stretch>
        </p:blipFill>
        <p:spPr>
          <a:xfrm>
            <a:off x="6492263" y="3982449"/>
            <a:ext cx="1149350" cy="1193800"/>
          </a:xfrm>
          <a:prstGeom prst="roundRect">
            <a:avLst>
              <a:gd name="adj" fmla="val 11702"/>
            </a:avLst>
          </a:prstGeom>
        </p:spPr>
      </p:pic>
      <p:pic>
        <p:nvPicPr>
          <p:cNvPr id="926" name="Bottom card 3"/>
          <p:cNvPicPr>
            <a:picLocks noChangeAspect="1"/>
          </p:cNvPicPr>
          <p:nvPr/>
        </p:nvPicPr>
        <p:blipFill>
          <a:blip r:embed="rId3"/>
          <a:srcRect l="60833" t="64167" r="6719" b="18426"/>
          <a:stretch>
            <a:fillRect/>
          </a:stretch>
        </p:blipFill>
        <p:spPr>
          <a:xfrm>
            <a:off x="7739167" y="3881960"/>
            <a:ext cx="4099541" cy="1376351"/>
          </a:xfrm>
          <a:prstGeom prst="roundRect">
            <a:avLst>
              <a:gd name="adj" fmla="val 11702"/>
            </a:avLst>
          </a:prstGeom>
        </p:spPr>
      </p:pic>
    </p:spTree>
    <p:extLst>
      <p:ext uri="{BB962C8B-B14F-4D97-AF65-F5344CB8AC3E}">
        <p14:creationId xmlns:p14="http://schemas.microsoft.com/office/powerpoint/2010/main" val="1595552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 Why not just use Gemini? Gemini Notebook vs. the Gemini app  Gemini Notebook  Gemini app  Grounding Locked onto the sources you add General assistant; needs careful prompts to stay on topic  Knowledge Answers only from your uploads Can blend in outside facts from its training  Citations Automatic, linked to the exact passage Only when asked, and they can be vague  Study tools One-click podcasts, guides and quizzes Takes several prompts to build the same GEMINI NOTEBOOK WORKSHOP · AI+ STUDIO 07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08 / 24</a:t>
            </a:r>
          </a:p>
        </p:txBody>
      </p:sp>
    </p:spTree>
    <p:extLst>
      <p:ext uri="{BB962C8B-B14F-4D97-AF65-F5344CB8AC3E}">
        <p14:creationId xmlns:p14="http://schemas.microsoft.com/office/powerpoint/2010/main" val="2843857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 The layout Three sections, one notebook 1 2 3 1 Sources Add files, links and videos, or let it search the web for you. 2 Chat Ask questions in plain English. Every answer is cited. 3 Studio Turn your sources into podcasts, quizzes, mind maps and more. GEMINI NOTEBOOK WORKSHOP · AI+ STUDIO 08 / 23"/>
          <p:cNvPicPr>
            <a:picLocks noChangeAspect="1"/>
          </p:cNvPicPr>
          <p:nvPr/>
        </p:nvPicPr>
        <p:blipFill>
          <a:blip r:embed="rId3"/>
          <a:stretch>
            <a:fillRect/>
          </a:stretch>
        </p:blipFill>
        <p:spPr>
          <a:xfrm>
            <a:off x="0" y="0"/>
            <a:ext cx="12192000" cy="6858000"/>
          </a:xfrm>
          <a:prstGeom prst="rect">
            <a:avLst/>
          </a:prstGeom>
        </p:spPr>
      </p:pic>
      <p:pic>
        <p:nvPicPr>
          <p:cNvPr id="930" name="Bg patch L"/>
          <p:cNvPicPr>
            <a:picLocks noChangeAspect="1"/>
          </p:cNvPicPr>
          <p:nvPr/>
        </p:nvPicPr>
        <p:blipFill>
          <a:blip r:embed="rId3"/>
          <a:srcRect l="1042" t="26852" r="94792" b="13889"/>
          <a:stretch>
            <a:fillRect/>
          </a:stretch>
        </p:blipFill>
        <p:spPr>
          <a:xfrm>
            <a:off x="635000" y="1841500"/>
            <a:ext cx="1460500" cy="4064000"/>
          </a:xfrm>
          <a:prstGeom prst="rect">
            <a:avLst/>
          </a:prstGeom>
        </p:spPr>
      </p:pic>
      <p:pic>
        <p:nvPicPr>
          <p:cNvPr id="931" name="Bg patch R"/>
          <p:cNvPicPr>
            <a:picLocks noChangeAspect="1"/>
          </p:cNvPicPr>
          <p:nvPr/>
        </p:nvPicPr>
        <p:blipFill>
          <a:blip r:embed="rId3"/>
          <a:srcRect l="94792" t="33333" r="1042" b="18148"/>
          <a:stretch>
            <a:fillRect/>
          </a:stretch>
        </p:blipFill>
        <p:spPr>
          <a:xfrm>
            <a:off x="10033000" y="2286000"/>
            <a:ext cx="1473200" cy="3327400"/>
          </a:xfrm>
          <a:prstGeom prst="rect">
            <a:avLst/>
          </a:prstGeom>
        </p:spPr>
      </p:pic>
      <p:pic>
        <p:nvPicPr>
          <p:cNvPr id="933" name="Screenshot enlarged"/>
          <p:cNvPicPr>
            <a:picLocks noChangeAspect="1"/>
          </p:cNvPicPr>
          <p:nvPr/>
        </p:nvPicPr>
        <p:blipFill>
          <a:blip r:embed="rId3"/>
          <a:srcRect l="7500" t="31389" r="38542" b="17222"/>
          <a:stretch>
            <a:fillRect/>
          </a:stretch>
        </p:blipFill>
        <p:spPr>
          <a:xfrm>
            <a:off x="1824345" y="1630881"/>
            <a:ext cx="8501747" cy="4554507"/>
          </a:xfrm>
          <a:prstGeom prst="roundRect">
            <a:avLst>
              <a:gd name="adj" fmla="val 2500"/>
            </a:avLst>
          </a:prstGeom>
          <a:ln w="15875">
            <a:solidFill>
              <a:srgbClr val="3A4A80"/>
            </a:solidFill>
          </a:ln>
        </p:spPr>
      </p:pic>
      <p:pic>
        <p:nvPicPr>
          <p:cNvPr id="943" name="Badge patch A1"/>
          <p:cNvPicPr>
            <a:picLocks noChangeAspect="1"/>
          </p:cNvPicPr>
          <p:nvPr/>
        </p:nvPicPr>
        <p:blipFill>
          <a:blip r:embed="rId3"/>
          <a:srcRect l="52167" t="54167" r="47708" b="41111"/>
          <a:stretch>
            <a:fillRect/>
          </a:stretch>
        </p:blipFill>
        <p:spPr>
          <a:xfrm>
            <a:off x="8881779" y="3649635"/>
            <a:ext cx="311840" cy="418522"/>
          </a:xfrm>
          <a:prstGeom prst="rect">
            <a:avLst/>
          </a:prstGeom>
        </p:spPr>
      </p:pic>
      <p:pic>
        <p:nvPicPr>
          <p:cNvPr id="944" name="Badge patch A2"/>
          <p:cNvPicPr>
            <a:picLocks noChangeAspect="1"/>
          </p:cNvPicPr>
          <p:nvPr/>
        </p:nvPicPr>
        <p:blipFill>
          <a:blip r:embed="rId3"/>
          <a:srcRect l="52448" t="58889" r="47396" b="38519"/>
          <a:stretch>
            <a:fillRect/>
          </a:stretch>
        </p:blipFill>
        <p:spPr>
          <a:xfrm>
            <a:off x="8881779" y="4068158"/>
            <a:ext cx="311840" cy="229777"/>
          </a:xfrm>
          <a:prstGeom prst="rect">
            <a:avLst/>
          </a:prstGeom>
        </p:spPr>
      </p:pic>
      <p:pic>
        <p:nvPicPr>
          <p:cNvPr id="941" name="Badge patch B"/>
          <p:cNvPicPr>
            <a:picLocks noChangeAspect="1"/>
          </p:cNvPicPr>
          <p:nvPr/>
        </p:nvPicPr>
        <p:blipFill>
          <a:blip r:embed="rId3"/>
          <a:srcRect l="55885" t="46620" r="43906" b="46250"/>
          <a:stretch>
            <a:fillRect/>
          </a:stretch>
        </p:blipFill>
        <p:spPr>
          <a:xfrm>
            <a:off x="9193619" y="3649635"/>
            <a:ext cx="295427" cy="631887"/>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09 / 24</a:t>
            </a:r>
          </a:p>
        </p:txBody>
      </p:sp>
      <p:sp>
        <p:nvSpPr>
          <p:cNvPr id="934" name="Label 1"/>
          <p:cNvSpPr/>
          <p:nvPr/>
        </p:nvSpPr>
        <p:spPr>
          <a:xfrm>
            <a:off x="2345439" y="3402381"/>
            <a:ext cx="1168400" cy="355600"/>
          </a:xfrm>
          <a:prstGeom prst="roundRect">
            <a:avLst>
              <a:gd name="adj" fmla="val 50000"/>
            </a:avLst>
          </a:prstGeom>
          <a:solidFill>
            <a:srgbClr val="0E1830"/>
          </a:solidFill>
          <a:ln w="12700">
            <a:solidFill>
              <a:srgbClr val="38C8F0"/>
            </a:solidFill>
          </a:ln>
        </p:spPr>
        <p:txBody>
          <a:bodyPr wrap="none" lIns="0" tIns="0" rIns="0" bIns="0" anchor="ctr">
            <a:noAutofit/>
          </a:bodyPr>
          <a:lstStyle/>
          <a:p>
            <a:pPr algn="ctr"/>
            <a:r>
              <a:rPr lang="en-US" sz="1600" b="1" dirty="0">
                <a:solidFill>
                  <a:srgbClr val="FFFFFF"/>
                </a:solidFill>
                <a:latin typeface="Segoe UI"/>
                <a:cs typeface="Segoe UI"/>
              </a:rPr>
              <a:t>Sources</a:t>
            </a:r>
          </a:p>
        </p:txBody>
      </p:sp>
      <p:sp>
        <p:nvSpPr>
          <p:cNvPr id="935" name="Label 2"/>
          <p:cNvSpPr/>
          <p:nvPr/>
        </p:nvSpPr>
        <p:spPr>
          <a:xfrm>
            <a:off x="5619953" y="4382777"/>
            <a:ext cx="889000" cy="355600"/>
          </a:xfrm>
          <a:prstGeom prst="roundRect">
            <a:avLst>
              <a:gd name="adj" fmla="val 50000"/>
            </a:avLst>
          </a:prstGeom>
          <a:solidFill>
            <a:srgbClr val="0E1830"/>
          </a:solidFill>
          <a:ln w="12700">
            <a:solidFill>
              <a:srgbClr val="38C8F0"/>
            </a:solidFill>
          </a:ln>
        </p:spPr>
        <p:txBody>
          <a:bodyPr wrap="none" lIns="0" tIns="0" rIns="0" bIns="0" anchor="ctr">
            <a:noAutofit/>
          </a:bodyPr>
          <a:lstStyle/>
          <a:p>
            <a:pPr algn="ctr"/>
            <a:r>
              <a:rPr lang="en-US" sz="1600" b="1" dirty="0">
                <a:solidFill>
                  <a:srgbClr val="FFFFFF"/>
                </a:solidFill>
                <a:latin typeface="Segoe UI"/>
                <a:cs typeface="Segoe UI"/>
              </a:rPr>
              <a:t>Chat</a:t>
            </a:r>
          </a:p>
        </p:txBody>
      </p:sp>
      <p:sp>
        <p:nvSpPr>
          <p:cNvPr id="5" name="Right Brace 4">
            <a:extLst>
              <a:ext uri="{FF2B5EF4-FFF2-40B4-BE49-F238E27FC236}">
                <a16:creationId xmlns:a16="http://schemas.microsoft.com/office/drawing/2014/main" id="{DB4BA1D6-CBF6-1CD9-BCB2-03365136FF4A}"/>
              </a:ext>
            </a:extLst>
          </p:cNvPr>
          <p:cNvSpPr/>
          <p:nvPr/>
        </p:nvSpPr>
        <p:spPr>
          <a:xfrm>
            <a:off x="10397836" y="4492162"/>
            <a:ext cx="457200" cy="156227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Label 2">
            <a:extLst>
              <a:ext uri="{FF2B5EF4-FFF2-40B4-BE49-F238E27FC236}">
                <a16:creationId xmlns:a16="http://schemas.microsoft.com/office/drawing/2014/main" id="{A9080E8A-9F17-7BC6-EEED-A0249CEF517F}"/>
              </a:ext>
            </a:extLst>
          </p:cNvPr>
          <p:cNvSpPr/>
          <p:nvPr/>
        </p:nvSpPr>
        <p:spPr>
          <a:xfrm>
            <a:off x="10848109" y="5029198"/>
            <a:ext cx="1050070" cy="484244"/>
          </a:xfrm>
          <a:prstGeom prst="roundRect">
            <a:avLst>
              <a:gd name="adj" fmla="val 50000"/>
            </a:avLst>
          </a:prstGeom>
          <a:solidFill>
            <a:srgbClr val="0E1830"/>
          </a:solidFill>
          <a:ln w="12700">
            <a:solidFill>
              <a:srgbClr val="38C8F0"/>
            </a:solidFill>
          </a:ln>
        </p:spPr>
        <p:txBody>
          <a:bodyPr wrap="none" lIns="0" tIns="0" rIns="0" bIns="0" anchor="ctr">
            <a:noAutofit/>
          </a:bodyPr>
          <a:lstStyle/>
          <a:p>
            <a:pPr algn="ctr"/>
            <a:r>
              <a:rPr lang="en-US" sz="1000" b="1" dirty="0">
                <a:solidFill>
                  <a:srgbClr val="FFFFFF"/>
                </a:solidFill>
                <a:latin typeface="Segoe UI"/>
                <a:cs typeface="Segoe UI"/>
              </a:rPr>
              <a:t>Studio Output</a:t>
            </a:r>
          </a:p>
        </p:txBody>
      </p:sp>
      <p:sp>
        <p:nvSpPr>
          <p:cNvPr id="942" name="Badge 3"/>
          <p:cNvSpPr/>
          <p:nvPr/>
        </p:nvSpPr>
        <p:spPr>
          <a:xfrm>
            <a:off x="8914605" y="3530061"/>
            <a:ext cx="541617" cy="541617"/>
          </a:xfrm>
          <a:prstGeom prst="ellipse">
            <a:avLst/>
          </a:prstGeom>
          <a:gradFill rotWithShape="1">
            <a:gsLst>
              <a:gs pos="0">
                <a:srgbClr val="4FB4FA"/>
              </a:gs>
              <a:gs pos="100000">
                <a:srgbClr val="9A80F2"/>
              </a:gs>
            </a:gsLst>
            <a:lin ang="5400000" scaled="0"/>
          </a:gradFill>
          <a:ln w="38100">
            <a:solidFill>
              <a:srgbClr val="8A8D9C"/>
            </a:solidFill>
          </a:ln>
        </p:spPr>
        <p:txBody>
          <a:bodyPr wrap="none" lIns="0" tIns="0" rIns="0" bIns="0" anchor="ctr">
            <a:noAutofit/>
          </a:bodyPr>
          <a:lstStyle/>
          <a:p>
            <a:pPr algn="ctr"/>
            <a:r>
              <a:rPr lang="en-US" sz="2000" b="1" dirty="0">
                <a:solidFill>
                  <a:srgbClr val="101830"/>
                </a:solidFill>
                <a:latin typeface="Segoe UI"/>
                <a:cs typeface="Segoe UI"/>
              </a:rPr>
              <a:t>3</a:t>
            </a:r>
          </a:p>
        </p:txBody>
      </p:sp>
      <p:sp>
        <p:nvSpPr>
          <p:cNvPr id="936" name="Label 3"/>
          <p:cNvSpPr/>
          <p:nvPr/>
        </p:nvSpPr>
        <p:spPr>
          <a:xfrm>
            <a:off x="8671640" y="3982029"/>
            <a:ext cx="1041400" cy="355600"/>
          </a:xfrm>
          <a:prstGeom prst="roundRect">
            <a:avLst>
              <a:gd name="adj" fmla="val 50000"/>
            </a:avLst>
          </a:prstGeom>
          <a:solidFill>
            <a:srgbClr val="0E1830"/>
          </a:solidFill>
          <a:ln w="12700">
            <a:solidFill>
              <a:srgbClr val="38C8F0"/>
            </a:solidFill>
          </a:ln>
        </p:spPr>
        <p:txBody>
          <a:bodyPr wrap="none" lIns="0" tIns="0" rIns="0" bIns="0" anchor="ctr">
            <a:noAutofit/>
          </a:bodyPr>
          <a:lstStyle/>
          <a:p>
            <a:pPr algn="ctr"/>
            <a:r>
              <a:rPr lang="en-US" sz="1600" b="1" dirty="0">
                <a:solidFill>
                  <a:srgbClr val="FFFFFF"/>
                </a:solidFill>
                <a:latin typeface="Segoe UI"/>
                <a:cs typeface="Segoe UI"/>
              </a:rPr>
              <a:t>Studio</a:t>
            </a:r>
          </a:p>
        </p:txBody>
      </p:sp>
    </p:spTree>
    <p:extLst>
      <p:ext uri="{BB962C8B-B14F-4D97-AF65-F5344CB8AC3E}">
        <p14:creationId xmlns:p14="http://schemas.microsoft.com/office/powerpoint/2010/main" val="1881803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gradFill rotWithShape="1">
          <a:gsLst>
            <a:gs pos="0">
              <a:srgbClr val="0A1230"/>
            </a:gs>
            <a:gs pos="55000">
              <a:srgbClr val="080C22"/>
            </a:gs>
            <a:gs pos="100000">
              <a:srgbClr val="150F38"/>
            </a:gs>
          </a:gsLst>
          <a:lin ang="5400000" scaled="0"/>
        </a:gradFill>
        <a:effectLst/>
      </p:bgPr>
    </p:bg>
    <p:spTree>
      <p:nvGrpSpPr>
        <p:cNvPr id="1" name=""/>
        <p:cNvGrpSpPr/>
        <p:nvPr/>
      </p:nvGrpSpPr>
      <p:grpSpPr>
        <a:xfrm>
          <a:off x="0" y="0"/>
          <a:ext cx="0" cy="0"/>
          <a:chOff x="0" y="0"/>
          <a:chExt cx="0" cy="0"/>
        </a:xfrm>
      </p:grpSpPr>
      <p:sp>
        <p:nvSpPr>
          <p:cNvPr id="1001" name="Top accent line"/>
          <p:cNvSpPr/>
          <p:nvPr/>
        </p:nvSpPr>
        <p:spPr>
          <a:xfrm>
            <a:off x="0" y="0"/>
            <a:ext cx="12192000" cy="38100"/>
          </a:xfrm>
          <a:prstGeom prst="rect">
            <a:avLst/>
          </a:prstGeom>
          <a:gradFill>
            <a:gsLst>
              <a:gs pos="0">
                <a:srgbClr val="38C8F0"/>
              </a:gs>
              <a:gs pos="100000">
                <a:srgbClr val="8B6CE0"/>
              </a:gs>
            </a:gsLst>
            <a:lin ang="0" scaled="0"/>
          </a:gradFill>
          <a:ln>
            <a:noFill/>
          </a:ln>
        </p:spPr>
        <p:txBody>
          <a:bodyPr/>
          <a:lstStyle/>
          <a:p>
            <a:endParaRPr lang="en-US"/>
          </a:p>
        </p:txBody>
      </p:sp>
      <p:sp>
        <p:nvSpPr>
          <p:cNvPr id="1004" name="Footer"/>
          <p:cNvSpPr txBox="1"/>
          <p:nvPr/>
        </p:nvSpPr>
        <p:spPr>
          <a:xfrm>
            <a:off x="812800" y="6235700"/>
            <a:ext cx="6350000" cy="203200"/>
          </a:xfrm>
          <a:prstGeom prst="rect">
            <a:avLst/>
          </a:prstGeom>
          <a:noFill/>
        </p:spPr>
        <p:txBody>
          <a:bodyPr wrap="square" lIns="0" tIns="0" rIns="0" bIns="0" anchor="ctr">
            <a:noAutofit/>
          </a:bodyPr>
          <a:lstStyle/>
          <a:p>
            <a:pPr algn="l"/>
            <a:r>
              <a:rPr lang="en-US" sz="1200" b="0" spc="100" dirty="0">
                <a:solidFill>
                  <a:srgbClr val="8A93B2"/>
                </a:solidFill>
                <a:latin typeface="Consolas"/>
                <a:cs typeface="Consolas"/>
              </a:rPr>
              <a:t>GEMINI NOTEBOOK WORKSHOP · AI+ STUDIO</a:t>
            </a:r>
          </a:p>
        </p:txBody>
      </p:sp>
      <p:sp>
        <p:nvSpPr>
          <p:cNvPr id="905" name="Page number"/>
          <p:cNvSpPr txBox="1"/>
          <p:nvPr/>
        </p:nvSpPr>
        <p:spPr>
          <a:xfrm>
            <a:off x="8839200" y="6235700"/>
            <a:ext cx="2540000" cy="203200"/>
          </a:xfrm>
          <a:prstGeom prst="rect">
            <a:avLst/>
          </a:prstGeom>
          <a:noFill/>
        </p:spPr>
        <p:txBody>
          <a:bodyPr wrap="square" lIns="0" tIns="0" rIns="0" bIns="0" anchor="ctr">
            <a:noAutofit/>
          </a:bodyPr>
          <a:lstStyle/>
          <a:p>
            <a:pPr algn="r"/>
            <a:r>
              <a:rPr lang="en-US" sz="1200" b="0" dirty="0">
                <a:solidFill>
                  <a:srgbClr val="8A93B2"/>
                </a:solidFill>
                <a:latin typeface="Consolas"/>
                <a:cs typeface="Consolas"/>
              </a:rPr>
              <a:t>10 / 25</a:t>
            </a:r>
          </a:p>
        </p:txBody>
      </p:sp>
      <p:sp>
        <p:nvSpPr>
          <p:cNvPr id="906" name="Eyebrow"/>
          <p:cNvSpPr txBox="1"/>
          <p:nvPr/>
        </p:nvSpPr>
        <p:spPr>
          <a:xfrm>
            <a:off x="812800" y="812800"/>
            <a:ext cx="6350000" cy="228600"/>
          </a:xfrm>
          <a:prstGeom prst="rect">
            <a:avLst/>
          </a:prstGeom>
          <a:noFill/>
        </p:spPr>
        <p:txBody>
          <a:bodyPr wrap="square" lIns="0" tIns="0" rIns="0" bIns="0" anchor="ctr">
            <a:noAutofit/>
          </a:bodyPr>
          <a:lstStyle/>
          <a:p>
            <a:pPr algn="l"/>
            <a:r>
              <a:rPr lang="en-US" sz="1200" b="1" spc="150" dirty="0">
                <a:solidFill>
                  <a:srgbClr val="38C8F0"/>
                </a:solidFill>
                <a:latin typeface="Consolas"/>
                <a:cs typeface="Consolas"/>
              </a:rPr>
              <a:t>// OUR DATA</a:t>
            </a:r>
          </a:p>
        </p:txBody>
      </p:sp>
      <p:sp>
        <p:nvSpPr>
          <p:cNvPr id="907" name="Title"/>
          <p:cNvSpPr txBox="1"/>
          <p:nvPr/>
        </p:nvSpPr>
        <p:spPr>
          <a:xfrm>
            <a:off x="812800" y="1117600"/>
            <a:ext cx="10566400" cy="508000"/>
          </a:xfrm>
          <a:prstGeom prst="rect">
            <a:avLst/>
          </a:prstGeom>
          <a:noFill/>
        </p:spPr>
        <p:txBody>
          <a:bodyPr wrap="square" lIns="0" tIns="0" rIns="0" bIns="0" anchor="ctr">
            <a:noAutofit/>
          </a:bodyPr>
          <a:lstStyle/>
          <a:p>
            <a:pPr algn="l"/>
            <a:r>
              <a:rPr lang="en-US" sz="3600" b="1" dirty="0">
                <a:solidFill>
                  <a:srgbClr val="F2F5FF"/>
                </a:solidFill>
                <a:latin typeface="DM Sans"/>
                <a:cs typeface="DM Sans"/>
              </a:rPr>
              <a:t>Our data sources</a:t>
            </a:r>
          </a:p>
        </p:txBody>
      </p:sp>
      <p:sp>
        <p:nvSpPr>
          <p:cNvPr id="908" name="Intro"/>
          <p:cNvSpPr txBox="1"/>
          <p:nvPr/>
        </p:nvSpPr>
        <p:spPr>
          <a:xfrm>
            <a:off x="812800" y="1701800"/>
            <a:ext cx="7213600" cy="355600"/>
          </a:xfrm>
          <a:prstGeom prst="rect">
            <a:avLst/>
          </a:prstGeom>
          <a:noFill/>
        </p:spPr>
        <p:txBody>
          <a:bodyPr wrap="square" lIns="0" tIns="0" rIns="0" bIns="0" anchor="ctr">
            <a:noAutofit/>
          </a:bodyPr>
          <a:lstStyle/>
          <a:p>
            <a:pPr algn="l"/>
            <a:r>
              <a:rPr lang="en-US" sz="1800" b="0" dirty="0">
                <a:solidFill>
                  <a:srgbClr val="A9B1D1"/>
                </a:solidFill>
                <a:latin typeface="DM Sans"/>
                <a:cs typeface="DM Sans"/>
              </a:rPr>
              <a:t>We will work with two types of data sources:</a:t>
            </a:r>
          </a:p>
        </p:txBody>
      </p:sp>
      <p:sp>
        <p:nvSpPr>
          <p:cNvPr id="909" name="Notebook heading"/>
          <p:cNvSpPr txBox="1"/>
          <p:nvPr/>
        </p:nvSpPr>
        <p:spPr>
          <a:xfrm>
            <a:off x="8432800" y="1778000"/>
            <a:ext cx="2946400" cy="304800"/>
          </a:xfrm>
          <a:prstGeom prst="rect">
            <a:avLst/>
          </a:prstGeom>
          <a:noFill/>
        </p:spPr>
        <p:txBody>
          <a:bodyPr wrap="square" lIns="0" tIns="0" rIns="0" bIns="0" anchor="ctr">
            <a:noAutofit/>
          </a:bodyPr>
          <a:lstStyle/>
          <a:p>
            <a:pPr algn="l"/>
            <a:r>
              <a:rPr lang="en-US" sz="1400" b="1" dirty="0">
                <a:solidFill>
                  <a:srgbClr val="A9B1D1"/>
                </a:solidFill>
                <a:latin typeface="DM Sans"/>
                <a:cs typeface="DM Sans"/>
              </a:rPr>
              <a:t>Sources in our notebook</a:t>
            </a:r>
          </a:p>
        </p:txBody>
      </p:sp>
      <p:sp>
        <p:nvSpPr>
          <p:cNvPr id="910" name="AI card"/>
          <p:cNvSpPr/>
          <p:nvPr/>
        </p:nvSpPr>
        <p:spPr>
          <a:xfrm>
            <a:off x="812800" y="2286000"/>
            <a:ext cx="7213600" cy="1727200"/>
          </a:xfrm>
          <a:prstGeom prst="roundRect">
            <a:avLst>
              <a:gd name="adj" fmla="val 6000"/>
            </a:avLst>
          </a:prstGeom>
          <a:solidFill>
            <a:srgbClr val="0F1838"/>
          </a:solidFill>
          <a:ln w="12700">
            <a:solidFill>
              <a:srgbClr val="2A3A6E"/>
            </a:solidFill>
          </a:ln>
        </p:spPr>
        <p:txBody>
          <a:bodyPr/>
          <a:lstStyle/>
          <a:p>
            <a:endParaRPr lang="en-US"/>
          </a:p>
        </p:txBody>
      </p:sp>
      <p:sp>
        <p:nvSpPr>
          <p:cNvPr id="911" name="AI card badge"/>
          <p:cNvSpPr/>
          <p:nvPr/>
        </p:nvSpPr>
        <p:spPr>
          <a:xfrm>
            <a:off x="1066800" y="2463800"/>
            <a:ext cx="457200" cy="457200"/>
          </a:xfrm>
          <a:prstGeom prst="ellipse">
            <a:avLst/>
          </a:prstGeom>
          <a:gradFill>
            <a:gsLst>
              <a:gs pos="0">
                <a:srgbClr val="38C8F0"/>
              </a:gs>
              <a:gs pos="100000">
                <a:srgbClr val="8B6CE0"/>
              </a:gs>
            </a:gsLst>
            <a:lin ang="2700000" scaled="0"/>
          </a:gradFill>
          <a:ln>
            <a:noFill/>
          </a:ln>
        </p:spPr>
        <p:txBody>
          <a:bodyPr wrap="none" lIns="0" tIns="0" rIns="0" bIns="0" anchor="ctr">
            <a:noAutofit/>
          </a:bodyPr>
          <a:lstStyle/>
          <a:p>
            <a:pPr algn="ctr"/>
            <a:r>
              <a:rPr lang="en-US" sz="1800" b="1" dirty="0">
                <a:solidFill>
                  <a:srgbClr val="0A1030"/>
                </a:solidFill>
                <a:latin typeface="DM Sans"/>
                <a:cs typeface="DM Sans"/>
              </a:rPr>
              <a:t>1</a:t>
            </a:r>
          </a:p>
        </p:txBody>
      </p:sp>
      <p:sp>
        <p:nvSpPr>
          <p:cNvPr id="912" name="AI card heading"/>
          <p:cNvSpPr txBox="1"/>
          <p:nvPr/>
        </p:nvSpPr>
        <p:spPr>
          <a:xfrm>
            <a:off x="1676400" y="2463800"/>
            <a:ext cx="6096000" cy="457200"/>
          </a:xfrm>
          <a:prstGeom prst="rect">
            <a:avLst/>
          </a:prstGeom>
          <a:noFill/>
        </p:spPr>
        <p:txBody>
          <a:bodyPr wrap="square" lIns="0" tIns="0" rIns="0" bIns="0" anchor="ctr">
            <a:noAutofit/>
          </a:bodyPr>
          <a:lstStyle/>
          <a:p>
            <a:pPr algn="l"/>
            <a:r>
              <a:rPr lang="en-US" sz="2200" b="1" dirty="0">
                <a:solidFill>
                  <a:srgbClr val="F2F5FF"/>
                </a:solidFill>
                <a:latin typeface="DM Sans"/>
                <a:cs typeface="DM Sans"/>
              </a:rPr>
              <a:t>Artificial intelligence data</a:t>
            </a:r>
          </a:p>
        </p:txBody>
      </p:sp>
      <p:sp>
        <p:nvSpPr>
          <p:cNvPr id="913" name="AI card details"/>
          <p:cNvSpPr txBox="1"/>
          <p:nvPr/>
        </p:nvSpPr>
        <p:spPr>
          <a:xfrm>
            <a:off x="1066800" y="3022600"/>
            <a:ext cx="6705600" cy="863600"/>
          </a:xfrm>
          <a:prstGeom prst="rect">
            <a:avLst/>
          </a:prstGeom>
          <a:noFill/>
        </p:spPr>
        <p:txBody>
          <a:bodyPr wrap="square" lIns="0" tIns="0" rIns="0" bIns="0" anchor="t">
            <a:noAutofit/>
          </a:bodyPr>
          <a:lstStyle/>
          <a:p>
            <a:pPr algn="l"/>
            <a:r>
              <a:rPr lang="en-US" sz="1600" b="0" dirty="0">
                <a:solidFill>
                  <a:srgbClr val="A9B1D1"/>
                </a:solidFill>
                <a:latin typeface="DM Sans"/>
                <a:cs typeface="DM Sans"/>
              </a:rPr>
              <a:t>Includes</a:t>
            </a:r>
          </a:p>
          <a:p>
            <a:pPr algn="l"/>
            <a:r>
              <a:rPr lang="en-US" sz="1800" b="1" dirty="0">
                <a:solidFill>
                  <a:srgbClr val="F2F5FF"/>
                </a:solidFill>
                <a:latin typeface="DM Sans"/>
                <a:cs typeface="DM Sans"/>
              </a:rPr>
              <a:t>11 sources: AI Index report, Wikipedia histories, and articles on LLMs, transformers and RLHF</a:t>
            </a:r>
          </a:p>
        </p:txBody>
      </p:sp>
      <p:sp>
        <p:nvSpPr>
          <p:cNvPr id="914" name="Volcano card"/>
          <p:cNvSpPr/>
          <p:nvPr/>
        </p:nvSpPr>
        <p:spPr>
          <a:xfrm>
            <a:off x="812800" y="4368800"/>
            <a:ext cx="7213600" cy="1524000"/>
          </a:xfrm>
          <a:prstGeom prst="roundRect">
            <a:avLst>
              <a:gd name="adj" fmla="val 6000"/>
            </a:avLst>
          </a:prstGeom>
          <a:solidFill>
            <a:srgbClr val="0F1838"/>
          </a:solidFill>
          <a:ln w="12700">
            <a:solidFill>
              <a:srgbClr val="2A3A6E"/>
            </a:solidFill>
          </a:ln>
        </p:spPr>
        <p:txBody>
          <a:bodyPr/>
          <a:lstStyle/>
          <a:p>
            <a:endParaRPr lang="en-US"/>
          </a:p>
        </p:txBody>
      </p:sp>
      <p:sp>
        <p:nvSpPr>
          <p:cNvPr id="915" name="Volcano card badge"/>
          <p:cNvSpPr/>
          <p:nvPr/>
        </p:nvSpPr>
        <p:spPr>
          <a:xfrm>
            <a:off x="1066800" y="4572000"/>
            <a:ext cx="457200" cy="457200"/>
          </a:xfrm>
          <a:prstGeom prst="ellipse">
            <a:avLst/>
          </a:prstGeom>
          <a:gradFill>
            <a:gsLst>
              <a:gs pos="0">
                <a:srgbClr val="38C8F0"/>
              </a:gs>
              <a:gs pos="100000">
                <a:srgbClr val="8B6CE0"/>
              </a:gs>
            </a:gsLst>
            <a:lin ang="2700000" scaled="0"/>
          </a:gradFill>
          <a:ln>
            <a:noFill/>
          </a:ln>
        </p:spPr>
        <p:txBody>
          <a:bodyPr wrap="none" lIns="0" tIns="0" rIns="0" bIns="0" anchor="ctr">
            <a:noAutofit/>
          </a:bodyPr>
          <a:lstStyle/>
          <a:p>
            <a:pPr algn="ctr"/>
            <a:r>
              <a:rPr lang="en-US" sz="1800" b="1" dirty="0">
                <a:solidFill>
                  <a:srgbClr val="0A1030"/>
                </a:solidFill>
                <a:latin typeface="DM Sans"/>
                <a:cs typeface="DM Sans"/>
              </a:rPr>
              <a:t>2</a:t>
            </a:r>
          </a:p>
        </p:txBody>
      </p:sp>
      <p:sp>
        <p:nvSpPr>
          <p:cNvPr id="916" name="Volcano card heading"/>
          <p:cNvSpPr txBox="1"/>
          <p:nvPr/>
        </p:nvSpPr>
        <p:spPr>
          <a:xfrm>
            <a:off x="1676400" y="4572000"/>
            <a:ext cx="6096000" cy="457200"/>
          </a:xfrm>
          <a:prstGeom prst="rect">
            <a:avLst/>
          </a:prstGeom>
          <a:noFill/>
        </p:spPr>
        <p:txBody>
          <a:bodyPr wrap="square" lIns="0" tIns="0" rIns="0" bIns="0" anchor="ctr">
            <a:noAutofit/>
          </a:bodyPr>
          <a:lstStyle/>
          <a:p>
            <a:pPr algn="l"/>
            <a:r>
              <a:rPr lang="en-US" sz="2200" b="1" dirty="0">
                <a:solidFill>
                  <a:srgbClr val="F2F5FF"/>
                </a:solidFill>
                <a:latin typeface="DM Sans"/>
                <a:cs typeface="DM Sans"/>
              </a:rPr>
              <a:t>Volcano data</a:t>
            </a:r>
          </a:p>
        </p:txBody>
      </p:sp>
      <p:sp>
        <p:nvSpPr>
          <p:cNvPr id="917" name="Volcano card details"/>
          <p:cNvSpPr txBox="1"/>
          <p:nvPr/>
        </p:nvSpPr>
        <p:spPr>
          <a:xfrm>
            <a:off x="1066800" y="5130800"/>
            <a:ext cx="6705600" cy="635000"/>
          </a:xfrm>
          <a:prstGeom prst="rect">
            <a:avLst/>
          </a:prstGeom>
          <a:noFill/>
        </p:spPr>
        <p:txBody>
          <a:bodyPr wrap="square" lIns="0" tIns="0" rIns="0" bIns="0" anchor="t">
            <a:noAutofit/>
          </a:bodyPr>
          <a:lstStyle/>
          <a:p>
            <a:pPr algn="l"/>
            <a:r>
              <a:rPr lang="en-US" sz="1600" b="0" dirty="0">
                <a:solidFill>
                  <a:srgbClr val="A9B1D1"/>
                </a:solidFill>
                <a:latin typeface="DM Sans"/>
                <a:cs typeface="DM Sans"/>
              </a:rPr>
              <a:t>Includes</a:t>
            </a:r>
          </a:p>
          <a:p>
            <a:pPr algn="l"/>
            <a:r>
              <a:rPr lang="en-US" sz="1800" b="1" dirty="0">
                <a:solidFill>
                  <a:srgbClr val="F2F5FF"/>
                </a:solidFill>
                <a:latin typeface="DM Sans"/>
                <a:cs typeface="DM Sans"/>
              </a:rPr>
              <a:t>1 source: Volcano.pdf</a:t>
            </a:r>
          </a:p>
        </p:txBody>
      </p:sp>
      <p:sp>
        <p:nvSpPr>
          <p:cNvPr id="918" name="Screenshot frame"/>
          <p:cNvSpPr/>
          <p:nvPr/>
        </p:nvSpPr>
        <p:spPr>
          <a:xfrm>
            <a:off x="8432800" y="2286000"/>
            <a:ext cx="2946400" cy="3606800"/>
          </a:xfrm>
          <a:prstGeom prst="roundRect">
            <a:avLst>
              <a:gd name="adj" fmla="val 4000"/>
            </a:avLst>
          </a:prstGeom>
          <a:solidFill>
            <a:srgbClr val="0F1838"/>
          </a:solidFill>
          <a:ln w="12700">
            <a:solidFill>
              <a:srgbClr val="2A3A6E"/>
            </a:solidFill>
          </a:ln>
        </p:spPr>
        <p:txBody>
          <a:bodyPr/>
          <a:lstStyle/>
          <a:p>
            <a:endParaRPr lang="en-US"/>
          </a:p>
        </p:txBody>
      </p:sp>
      <p:pic>
        <p:nvPicPr>
          <p:cNvPr id="3" name="Picture 2">
            <a:extLst>
              <a:ext uri="{FF2B5EF4-FFF2-40B4-BE49-F238E27FC236}">
                <a16:creationId xmlns:a16="http://schemas.microsoft.com/office/drawing/2014/main" id="{FAE87A03-9774-648B-61F4-D80A56A74614}"/>
              </a:ext>
            </a:extLst>
          </p:cNvPr>
          <p:cNvPicPr>
            <a:picLocks noChangeAspect="1"/>
          </p:cNvPicPr>
          <p:nvPr/>
        </p:nvPicPr>
        <p:blipFill>
          <a:blip r:embed="rId3"/>
          <a:stretch>
            <a:fillRect/>
          </a:stretch>
        </p:blipFill>
        <p:spPr>
          <a:xfrm>
            <a:off x="8629650" y="2425700"/>
            <a:ext cx="2552700" cy="3323062"/>
          </a:xfrm>
          <a:prstGeom prst="rect">
            <a:avLst/>
          </a:prstGeom>
        </p:spPr>
      </p:pic>
    </p:spTree>
    <p:extLst>
      <p:ext uri="{BB962C8B-B14F-4D97-AF65-F5344CB8AC3E}">
        <p14:creationId xmlns:p14="http://schemas.microsoft.com/office/powerpoint/2010/main" val="1773568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1BCBE1-B8F5-82AB-B3B9-D3F3A290874F}"/>
              </a:ext>
            </a:extLst>
          </p:cNvPr>
          <p:cNvPicPr>
            <a:picLocks noChangeAspect="1"/>
          </p:cNvPicPr>
          <p:nvPr/>
        </p:nvPicPr>
        <p:blipFill>
          <a:blip r:embed="rId2"/>
          <a:stretch>
            <a:fillRect/>
          </a:stretch>
        </p:blipFill>
        <p:spPr>
          <a:xfrm>
            <a:off x="0" y="0"/>
            <a:ext cx="12192000" cy="6858000"/>
          </a:xfrm>
          <a:prstGeom prst="rect">
            <a:avLst/>
          </a:prstGeom>
        </p:spPr>
      </p:pic>
      <p:sp>
        <p:nvSpPr>
          <p:cNvPr id="4" name="Arrow: Right 3">
            <a:extLst>
              <a:ext uri="{FF2B5EF4-FFF2-40B4-BE49-F238E27FC236}">
                <a16:creationId xmlns:a16="http://schemas.microsoft.com/office/drawing/2014/main" id="{3851D4B1-9CC2-EB4E-D00C-19E27A6A4FCF}"/>
              </a:ext>
            </a:extLst>
          </p:cNvPr>
          <p:cNvSpPr/>
          <p:nvPr/>
        </p:nvSpPr>
        <p:spPr>
          <a:xfrm>
            <a:off x="5122718" y="3519055"/>
            <a:ext cx="1946564" cy="3671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4627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 The Sources tab Two ways to find sources Upload your own files, or describe a topic and let Gemini Notebook search for you:  Fast Research Searches The web and your Google Drive Best for Quick picks in seconds  Deep Research Searches The web only Best for A full report plus suggested sources 1 · Describe your topic 2 · Pick Fast or Deep 3 · Choose what to import GEMINI NOTEBOOK WORKSHOP · AI+ STUDIO 09 / 23"/>
          <p:cNvPicPr>
            <a:picLocks noChangeAspect="1"/>
          </p:cNvPicPr>
          <p:nvPr/>
        </p:nvPicPr>
        <p:blipFill>
          <a:blip r:embed="rId3"/>
          <a:stretch>
            <a:fillRect/>
          </a:stretch>
        </p:blipFill>
        <p:spPr>
          <a:xfrm>
            <a:off x="0" y="0"/>
            <a:ext cx="12192000" cy="6858000"/>
          </a:xfrm>
          <a:prstGeom prst="rect">
            <a:avLst/>
          </a:prstGeom>
        </p:spPr>
      </p:pic>
      <p:pic>
        <p:nvPicPr>
          <p:cNvPr id="980" name="Cards patch"/>
          <p:cNvPicPr>
            <a:picLocks noChangeAspect="1"/>
          </p:cNvPicPr>
          <p:nvPr/>
        </p:nvPicPr>
        <p:blipFill>
          <a:blip r:embed="rId3"/>
          <a:srcRect l="5417" t="81111" r="5417" b="10370"/>
          <a:stretch>
            <a:fillRect/>
          </a:stretch>
        </p:blipFill>
        <p:spPr>
          <a:xfrm>
            <a:off x="660400" y="2286000"/>
            <a:ext cx="10871200" cy="2997200"/>
          </a:xfrm>
          <a:prstGeom prst="rect">
            <a:avLst/>
          </a:prstGeom>
          <a:effectLst>
            <a:softEdge rad="76200"/>
          </a:effectLst>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10 / 24</a:t>
            </a:r>
          </a:p>
        </p:txBody>
      </p:sp>
      <p:pic>
        <p:nvPicPr>
          <p:cNvPr id="950" name="Title patch"/>
          <p:cNvPicPr>
            <a:picLocks noChangeAspect="1"/>
          </p:cNvPicPr>
          <p:nvPr/>
        </p:nvPicPr>
        <p:blipFill>
          <a:blip r:embed="rId3"/>
          <a:srcRect l="5833" t="24074" r="29583" b="73704"/>
          <a:stretch>
            <a:fillRect/>
          </a:stretch>
        </p:blipFill>
        <p:spPr>
          <a:xfrm>
            <a:off x="711200" y="1066800"/>
            <a:ext cx="7874000" cy="584200"/>
          </a:xfrm>
          <a:prstGeom prst="rect">
            <a:avLst/>
          </a:prstGeom>
        </p:spPr>
      </p:pic>
      <p:sp>
        <p:nvSpPr>
          <p:cNvPr id="951" name="Title"/>
          <p:cNvSpPr txBox="1"/>
          <p:nvPr/>
        </p:nvSpPr>
        <p:spPr>
          <a:xfrm>
            <a:off x="812800" y="1117600"/>
            <a:ext cx="10566400" cy="508000"/>
          </a:xfrm>
          <a:prstGeom prst="rect">
            <a:avLst/>
          </a:prstGeom>
          <a:noFill/>
        </p:spPr>
        <p:txBody>
          <a:bodyPr wrap="square" lIns="0" tIns="0" rIns="0" bIns="0" anchor="ctr">
            <a:noAutofit/>
          </a:bodyPr>
          <a:lstStyle/>
          <a:p>
            <a:pPr algn="l"/>
            <a:r>
              <a:rPr lang="en-US" sz="3600" b="1" dirty="0">
                <a:solidFill>
                  <a:srgbClr val="F2F5FF"/>
                </a:solidFill>
                <a:latin typeface="DM Sans"/>
                <a:cs typeface="DM Sans"/>
              </a:rPr>
              <a:t>Three ways to bring in sources</a:t>
            </a:r>
          </a:p>
        </p:txBody>
      </p:sp>
      <p:sp>
        <p:nvSpPr>
          <p:cNvPr id="981" name="Fast card"/>
          <p:cNvSpPr/>
          <p:nvPr/>
        </p:nvSpPr>
        <p:spPr>
          <a:xfrm>
            <a:off x="812800" y="2362200"/>
            <a:ext cx="3378200" cy="2590800"/>
          </a:xfrm>
          <a:prstGeom prst="roundRect">
            <a:avLst>
              <a:gd name="adj" fmla="val 6000"/>
            </a:avLst>
          </a:prstGeom>
          <a:solidFill>
            <a:srgbClr val="0F1838"/>
          </a:solidFill>
          <a:ln w="12700">
            <a:solidFill>
              <a:srgbClr val="2A3A6E"/>
            </a:solidFill>
          </a:ln>
        </p:spPr>
        <p:txBody>
          <a:bodyPr/>
          <a:lstStyle/>
          <a:p>
            <a:endParaRPr lang="en-US"/>
          </a:p>
        </p:txBody>
      </p:sp>
      <p:sp>
        <p:nvSpPr>
          <p:cNvPr id="982" name="Fast heading"/>
          <p:cNvSpPr txBox="1"/>
          <p:nvPr/>
        </p:nvSpPr>
        <p:spPr>
          <a:xfrm>
            <a:off x="1524000" y="2540000"/>
            <a:ext cx="2463800" cy="431800"/>
          </a:xfrm>
          <a:prstGeom prst="rect">
            <a:avLst/>
          </a:prstGeom>
          <a:noFill/>
        </p:spPr>
        <p:txBody>
          <a:bodyPr wrap="square" lIns="0" tIns="0" rIns="0" bIns="0" anchor="ctr">
            <a:noAutofit/>
          </a:bodyPr>
          <a:lstStyle/>
          <a:p>
            <a:pPr algn="l"/>
            <a:r>
              <a:rPr lang="en-US" sz="2000" b="1" dirty="0">
                <a:solidFill>
                  <a:srgbClr val="F2F5FF"/>
                </a:solidFill>
                <a:latin typeface="DM Sans"/>
                <a:cs typeface="DM Sans"/>
              </a:rPr>
              <a:t>Fast Research</a:t>
            </a:r>
          </a:p>
        </p:txBody>
      </p:sp>
      <p:sp>
        <p:nvSpPr>
          <p:cNvPr id="983" name="Fast details"/>
          <p:cNvSpPr txBox="1"/>
          <p:nvPr/>
        </p:nvSpPr>
        <p:spPr>
          <a:xfrm>
            <a:off x="1066800" y="3149600"/>
            <a:ext cx="2870200" cy="1701800"/>
          </a:xfrm>
          <a:prstGeom prst="rect">
            <a:avLst/>
          </a:prstGeom>
          <a:noFill/>
        </p:spPr>
        <p:txBody>
          <a:bodyPr wrap="square" lIns="0" tIns="0" rIns="0" bIns="0" anchor="t">
            <a:noAutofit/>
          </a:bodyPr>
          <a:lstStyle/>
          <a:p>
            <a:pPr algn="l">
              <a:spcBef>
                <a:spcPts val="0"/>
              </a:spcBef>
            </a:pPr>
            <a:r>
              <a:rPr lang="en-US" sz="1400" b="0" dirty="0">
                <a:solidFill>
                  <a:srgbClr val="A9B3D3"/>
                </a:solidFill>
                <a:latin typeface="DM Sans"/>
                <a:cs typeface="DM Sans"/>
              </a:rPr>
              <a:t>Searches</a:t>
            </a:r>
          </a:p>
          <a:p>
            <a:pPr algn="l">
              <a:spcBef>
                <a:spcPts val="200"/>
              </a:spcBef>
            </a:pPr>
            <a:r>
              <a:rPr lang="en-US" sz="1600" b="1" dirty="0">
                <a:solidFill>
                  <a:srgbClr val="F2F5FF"/>
                </a:solidFill>
                <a:latin typeface="DM Sans"/>
                <a:cs typeface="DM Sans"/>
              </a:rPr>
              <a:t>The web and your Google Drive</a:t>
            </a:r>
          </a:p>
          <a:p>
            <a:pPr algn="l">
              <a:spcBef>
                <a:spcPts val="1400"/>
              </a:spcBef>
            </a:pPr>
            <a:r>
              <a:rPr lang="en-US" sz="1400" b="0" dirty="0">
                <a:solidFill>
                  <a:srgbClr val="A9B3D3"/>
                </a:solidFill>
                <a:latin typeface="DM Sans"/>
                <a:cs typeface="DM Sans"/>
              </a:rPr>
              <a:t>Best for</a:t>
            </a:r>
          </a:p>
          <a:p>
            <a:pPr algn="l">
              <a:spcBef>
                <a:spcPts val="200"/>
              </a:spcBef>
            </a:pPr>
            <a:r>
              <a:rPr lang="en-US" sz="1600" b="1" dirty="0">
                <a:solidFill>
                  <a:srgbClr val="F2F5FF"/>
                </a:solidFill>
                <a:latin typeface="DM Sans"/>
                <a:cs typeface="DM Sans"/>
              </a:rPr>
              <a:t>Quick picks in seconds</a:t>
            </a:r>
          </a:p>
        </p:txBody>
      </p:sp>
      <p:sp>
        <p:nvSpPr>
          <p:cNvPr id="984" name="Deep card"/>
          <p:cNvSpPr/>
          <p:nvPr/>
        </p:nvSpPr>
        <p:spPr>
          <a:xfrm>
            <a:off x="4406900" y="2362200"/>
            <a:ext cx="3378200" cy="2590800"/>
          </a:xfrm>
          <a:prstGeom prst="roundRect">
            <a:avLst>
              <a:gd name="adj" fmla="val 6000"/>
            </a:avLst>
          </a:prstGeom>
          <a:gradFill rotWithShape="1">
            <a:gsLst>
              <a:gs pos="0">
                <a:srgbClr val="242B78"/>
              </a:gs>
              <a:gs pos="100000">
                <a:srgbClr val="3A2A78"/>
              </a:gs>
            </a:gsLst>
            <a:lin ang="2700000" scaled="0"/>
          </a:gradFill>
          <a:ln w="12700">
            <a:solidFill>
              <a:srgbClr val="6D6DE8"/>
            </a:solidFill>
          </a:ln>
        </p:spPr>
        <p:txBody>
          <a:bodyPr/>
          <a:lstStyle/>
          <a:p>
            <a:endParaRPr lang="en-US"/>
          </a:p>
        </p:txBody>
      </p:sp>
      <p:sp>
        <p:nvSpPr>
          <p:cNvPr id="985" name="Deep heading"/>
          <p:cNvSpPr txBox="1"/>
          <p:nvPr/>
        </p:nvSpPr>
        <p:spPr>
          <a:xfrm>
            <a:off x="5118100" y="2540000"/>
            <a:ext cx="2463800" cy="431800"/>
          </a:xfrm>
          <a:prstGeom prst="rect">
            <a:avLst/>
          </a:prstGeom>
          <a:noFill/>
        </p:spPr>
        <p:txBody>
          <a:bodyPr wrap="square" lIns="0" tIns="0" rIns="0" bIns="0" anchor="ctr">
            <a:noAutofit/>
          </a:bodyPr>
          <a:lstStyle/>
          <a:p>
            <a:pPr algn="l"/>
            <a:r>
              <a:rPr lang="en-US" sz="2000" b="1" dirty="0">
                <a:solidFill>
                  <a:srgbClr val="F2F5FF"/>
                </a:solidFill>
                <a:latin typeface="DM Sans"/>
                <a:cs typeface="DM Sans"/>
              </a:rPr>
              <a:t>Deep Research</a:t>
            </a:r>
          </a:p>
        </p:txBody>
      </p:sp>
      <p:sp>
        <p:nvSpPr>
          <p:cNvPr id="986" name="Deep details"/>
          <p:cNvSpPr txBox="1"/>
          <p:nvPr/>
        </p:nvSpPr>
        <p:spPr>
          <a:xfrm>
            <a:off x="4660900" y="3149600"/>
            <a:ext cx="2870200" cy="1701800"/>
          </a:xfrm>
          <a:prstGeom prst="rect">
            <a:avLst/>
          </a:prstGeom>
          <a:noFill/>
        </p:spPr>
        <p:txBody>
          <a:bodyPr wrap="square" lIns="0" tIns="0" rIns="0" bIns="0" anchor="t">
            <a:noAutofit/>
          </a:bodyPr>
          <a:lstStyle/>
          <a:p>
            <a:pPr algn="l">
              <a:spcBef>
                <a:spcPts val="0"/>
              </a:spcBef>
            </a:pPr>
            <a:r>
              <a:rPr lang="en-US" sz="1400" b="0" dirty="0">
                <a:solidFill>
                  <a:srgbClr val="A9B3D3"/>
                </a:solidFill>
                <a:latin typeface="DM Sans"/>
                <a:cs typeface="DM Sans"/>
              </a:rPr>
              <a:t>Searches</a:t>
            </a:r>
          </a:p>
          <a:p>
            <a:pPr algn="l">
              <a:spcBef>
                <a:spcPts val="200"/>
              </a:spcBef>
            </a:pPr>
            <a:r>
              <a:rPr lang="en-US" sz="1600" b="1" dirty="0">
                <a:solidFill>
                  <a:srgbClr val="F2F5FF"/>
                </a:solidFill>
                <a:latin typeface="DM Sans"/>
                <a:cs typeface="DM Sans"/>
              </a:rPr>
              <a:t>The web only</a:t>
            </a:r>
          </a:p>
          <a:p>
            <a:endParaRPr lang="en-US" sz="1600"/>
          </a:p>
          <a:p>
            <a:pPr algn="l">
              <a:spcBef>
                <a:spcPts val="1400"/>
              </a:spcBef>
            </a:pPr>
            <a:r>
              <a:rPr lang="en-US" sz="1400" b="0" dirty="0">
                <a:solidFill>
                  <a:srgbClr val="A9B3D3"/>
                </a:solidFill>
                <a:latin typeface="DM Sans"/>
                <a:cs typeface="DM Sans"/>
              </a:rPr>
              <a:t>Best for</a:t>
            </a:r>
          </a:p>
          <a:p>
            <a:pPr algn="l">
              <a:spcBef>
                <a:spcPts val="200"/>
              </a:spcBef>
            </a:pPr>
            <a:r>
              <a:rPr lang="en-US" sz="1600" b="1" dirty="0">
                <a:solidFill>
                  <a:srgbClr val="F2F5FF"/>
                </a:solidFill>
                <a:latin typeface="DM Sans"/>
                <a:cs typeface="DM Sans"/>
              </a:rPr>
              <a:t>A full report plus suggested sources</a:t>
            </a:r>
          </a:p>
        </p:txBody>
      </p:sp>
      <p:sp>
        <p:nvSpPr>
          <p:cNvPr id="987" name="Note card"/>
          <p:cNvSpPr/>
          <p:nvPr/>
        </p:nvSpPr>
        <p:spPr>
          <a:xfrm>
            <a:off x="8001000" y="2362200"/>
            <a:ext cx="3378200" cy="2590800"/>
          </a:xfrm>
          <a:prstGeom prst="roundRect">
            <a:avLst>
              <a:gd name="adj" fmla="val 6000"/>
            </a:avLst>
          </a:prstGeom>
          <a:solidFill>
            <a:srgbClr val="0F1838"/>
          </a:solidFill>
          <a:ln w="12700">
            <a:solidFill>
              <a:srgbClr val="2A3A6E"/>
            </a:solidFill>
          </a:ln>
        </p:spPr>
        <p:txBody>
          <a:bodyPr/>
          <a:lstStyle/>
          <a:p>
            <a:endParaRPr lang="en-US"/>
          </a:p>
        </p:txBody>
      </p:sp>
      <p:sp>
        <p:nvSpPr>
          <p:cNvPr id="988" name="Note heading"/>
          <p:cNvSpPr txBox="1"/>
          <p:nvPr/>
        </p:nvSpPr>
        <p:spPr>
          <a:xfrm>
            <a:off x="8712200" y="2540000"/>
            <a:ext cx="2463800" cy="431800"/>
          </a:xfrm>
          <a:prstGeom prst="rect">
            <a:avLst/>
          </a:prstGeom>
          <a:noFill/>
        </p:spPr>
        <p:txBody>
          <a:bodyPr wrap="square" lIns="0" tIns="0" rIns="0" bIns="0" anchor="ctr">
            <a:noAutofit/>
          </a:bodyPr>
          <a:lstStyle/>
          <a:p>
            <a:pPr algn="l"/>
            <a:r>
              <a:rPr lang="en-US" sz="2000" b="1" dirty="0">
                <a:solidFill>
                  <a:srgbClr val="F2F5FF"/>
                </a:solidFill>
                <a:latin typeface="DM Sans"/>
                <a:cs typeface="DM Sans"/>
              </a:rPr>
              <a:t>Create a note</a:t>
            </a:r>
          </a:p>
        </p:txBody>
      </p:sp>
      <p:sp>
        <p:nvSpPr>
          <p:cNvPr id="989" name="Note details"/>
          <p:cNvSpPr txBox="1"/>
          <p:nvPr/>
        </p:nvSpPr>
        <p:spPr>
          <a:xfrm>
            <a:off x="8255000" y="3149600"/>
            <a:ext cx="2870200" cy="1701800"/>
          </a:xfrm>
          <a:prstGeom prst="rect">
            <a:avLst/>
          </a:prstGeom>
          <a:noFill/>
        </p:spPr>
        <p:txBody>
          <a:bodyPr wrap="square" lIns="0" tIns="0" rIns="0" bIns="0" anchor="t">
            <a:noAutofit/>
          </a:bodyPr>
          <a:lstStyle/>
          <a:p>
            <a:pPr algn="l">
              <a:spcBef>
                <a:spcPts val="0"/>
              </a:spcBef>
            </a:pPr>
            <a:r>
              <a:rPr lang="en-US" sz="1400" b="0" dirty="0">
                <a:solidFill>
                  <a:srgbClr val="A9B3D3"/>
                </a:solidFill>
                <a:latin typeface="DM Sans"/>
                <a:cs typeface="DM Sans"/>
              </a:rPr>
              <a:t>Start from</a:t>
            </a:r>
          </a:p>
          <a:p>
            <a:pPr algn="l">
              <a:spcBef>
                <a:spcPts val="200"/>
              </a:spcBef>
            </a:pPr>
            <a:r>
              <a:rPr lang="en-US" sz="1600" b="1" dirty="0">
                <a:solidFill>
                  <a:srgbClr val="F2F5FF"/>
                </a:solidFill>
                <a:latin typeface="DM Sans"/>
                <a:cs typeface="DM Sans"/>
              </a:rPr>
              <a:t>A Gemini answer, or your own typing</a:t>
            </a:r>
          </a:p>
          <a:p>
            <a:pPr algn="l">
              <a:spcBef>
                <a:spcPts val="1400"/>
              </a:spcBef>
            </a:pPr>
            <a:r>
              <a:rPr lang="en-US" sz="1400" b="0" dirty="0">
                <a:solidFill>
                  <a:srgbClr val="A9B3D3"/>
                </a:solidFill>
                <a:latin typeface="DM Sans"/>
                <a:cs typeface="DM Sans"/>
              </a:rPr>
              <a:t>Then</a:t>
            </a:r>
          </a:p>
          <a:p>
            <a:pPr algn="l">
              <a:spcBef>
                <a:spcPts val="200"/>
              </a:spcBef>
            </a:pPr>
            <a:r>
              <a:rPr lang="en-US" sz="1600" b="1" dirty="0">
                <a:solidFill>
                  <a:srgbClr val="F2F5FF"/>
                </a:solidFill>
                <a:latin typeface="DM Sans"/>
                <a:cs typeface="DM Sans"/>
              </a:rPr>
              <a:t>Add it as one of your sources</a:t>
            </a:r>
          </a:p>
        </p:txBody>
      </p:sp>
      <p:sp>
        <p:nvSpPr>
          <p:cNvPr id="970" name="Step pill 1"/>
          <p:cNvSpPr/>
          <p:nvPr/>
        </p:nvSpPr>
        <p:spPr>
          <a:xfrm>
            <a:off x="812800" y="5308600"/>
            <a:ext cx="2413000" cy="457200"/>
          </a:xfrm>
          <a:prstGeom prst="roundRect">
            <a:avLst>
              <a:gd name="adj" fmla="val 50000"/>
            </a:avLst>
          </a:prstGeom>
          <a:solidFill>
            <a:srgbClr val="121B3F"/>
          </a:solidFill>
          <a:ln w="12700">
            <a:solidFill>
              <a:srgbClr val="2E3F75"/>
            </a:solidFill>
          </a:ln>
        </p:spPr>
        <p:txBody>
          <a:bodyPr wrap="none" lIns="0" tIns="0" rIns="0" bIns="0" anchor="ctr">
            <a:noAutofit/>
          </a:bodyPr>
          <a:lstStyle/>
          <a:p>
            <a:pPr algn="ctr"/>
            <a:r>
              <a:rPr lang="en-US" sz="1400" b="1" dirty="0">
                <a:solidFill>
                  <a:srgbClr val="F2F5FF"/>
                </a:solidFill>
                <a:latin typeface="DM Sans"/>
                <a:cs typeface="DM Sans"/>
              </a:rPr>
              <a:t>1 · Describe your topic</a:t>
            </a:r>
          </a:p>
        </p:txBody>
      </p:sp>
      <p:sp>
        <p:nvSpPr>
          <p:cNvPr id="971" name="Step arrow 1"/>
          <p:cNvSpPr/>
          <p:nvPr/>
        </p:nvSpPr>
        <p:spPr>
          <a:xfrm>
            <a:off x="3340100" y="5448300"/>
            <a:ext cx="355600" cy="177800"/>
          </a:xfrm>
          <a:prstGeom prst="rightArrow">
            <a:avLst>
              <a:gd name="adj1" fmla="val 40000"/>
              <a:gd name="adj2" fmla="val 60000"/>
            </a:avLst>
          </a:prstGeom>
          <a:solidFill>
            <a:srgbClr val="38C8F0"/>
          </a:solidFill>
          <a:ln>
            <a:noFill/>
          </a:ln>
        </p:spPr>
        <p:txBody>
          <a:bodyPr/>
          <a:lstStyle/>
          <a:p>
            <a:endParaRPr lang="en-US"/>
          </a:p>
        </p:txBody>
      </p:sp>
      <p:sp>
        <p:nvSpPr>
          <p:cNvPr id="972" name="Step pill 2"/>
          <p:cNvSpPr/>
          <p:nvPr/>
        </p:nvSpPr>
        <p:spPr>
          <a:xfrm>
            <a:off x="3810000" y="5308600"/>
            <a:ext cx="4191000" cy="457200"/>
          </a:xfrm>
          <a:prstGeom prst="roundRect">
            <a:avLst>
              <a:gd name="adj" fmla="val 50000"/>
            </a:avLst>
          </a:prstGeom>
          <a:solidFill>
            <a:srgbClr val="121B3F"/>
          </a:solidFill>
          <a:ln w="12700">
            <a:solidFill>
              <a:srgbClr val="2E3F75"/>
            </a:solidFill>
          </a:ln>
        </p:spPr>
        <p:txBody>
          <a:bodyPr wrap="none" lIns="0" tIns="0" rIns="0" bIns="0" anchor="ctr">
            <a:noAutofit/>
          </a:bodyPr>
          <a:lstStyle/>
          <a:p>
            <a:pPr algn="ctr"/>
            <a:r>
              <a:rPr lang="en-US" sz="1400" b="1" dirty="0">
                <a:solidFill>
                  <a:srgbClr val="F2F5FF"/>
                </a:solidFill>
                <a:latin typeface="DM Sans"/>
                <a:cs typeface="DM Sans"/>
              </a:rPr>
              <a:t>2 · Pick Fast, Deep or Add note as source</a:t>
            </a:r>
          </a:p>
        </p:txBody>
      </p:sp>
      <p:sp>
        <p:nvSpPr>
          <p:cNvPr id="973" name="Step arrow 2"/>
          <p:cNvSpPr/>
          <p:nvPr/>
        </p:nvSpPr>
        <p:spPr>
          <a:xfrm>
            <a:off x="8115300" y="5448300"/>
            <a:ext cx="355600" cy="177800"/>
          </a:xfrm>
          <a:prstGeom prst="rightArrow">
            <a:avLst>
              <a:gd name="adj1" fmla="val 40000"/>
              <a:gd name="adj2" fmla="val 60000"/>
            </a:avLst>
          </a:prstGeom>
          <a:solidFill>
            <a:srgbClr val="38C8F0"/>
          </a:solidFill>
          <a:ln>
            <a:noFill/>
          </a:ln>
        </p:spPr>
        <p:txBody>
          <a:bodyPr/>
          <a:lstStyle/>
          <a:p>
            <a:endParaRPr lang="en-US"/>
          </a:p>
        </p:txBody>
      </p:sp>
      <p:sp>
        <p:nvSpPr>
          <p:cNvPr id="974" name="Step pill 3"/>
          <p:cNvSpPr/>
          <p:nvPr/>
        </p:nvSpPr>
        <p:spPr>
          <a:xfrm>
            <a:off x="8585200" y="5308600"/>
            <a:ext cx="2794000" cy="457200"/>
          </a:xfrm>
          <a:prstGeom prst="roundRect">
            <a:avLst>
              <a:gd name="adj" fmla="val 50000"/>
            </a:avLst>
          </a:prstGeom>
          <a:solidFill>
            <a:srgbClr val="121B3F"/>
          </a:solidFill>
          <a:ln w="12700">
            <a:solidFill>
              <a:srgbClr val="2E3F75"/>
            </a:solidFill>
          </a:ln>
        </p:spPr>
        <p:txBody>
          <a:bodyPr wrap="none" lIns="0" tIns="0" rIns="0" bIns="0" anchor="ctr">
            <a:noAutofit/>
          </a:bodyPr>
          <a:lstStyle/>
          <a:p>
            <a:pPr algn="ctr"/>
            <a:r>
              <a:rPr lang="en-US" sz="1400" b="1" dirty="0">
                <a:solidFill>
                  <a:srgbClr val="F2F5FF"/>
                </a:solidFill>
                <a:latin typeface="DM Sans"/>
                <a:cs typeface="DM Sans"/>
              </a:rPr>
              <a:t>3 · Choose what to import</a:t>
            </a:r>
          </a:p>
        </p:txBody>
      </p:sp>
      <p:pic>
        <p:nvPicPr>
          <p:cNvPr id="955" name="Graphic 955" descr="Note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55000" y="2590800"/>
            <a:ext cx="381000" cy="381000"/>
          </a:xfrm>
          <a:prstGeom prst="rect">
            <a:avLst/>
          </a:prstGeom>
        </p:spPr>
      </p:pic>
      <p:pic>
        <p:nvPicPr>
          <p:cNvPr id="990" name="Graphic 990" descr="Lightning bolt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800" y="2590800"/>
            <a:ext cx="355600" cy="355600"/>
          </a:xfrm>
          <a:prstGeom prst="rect">
            <a:avLst/>
          </a:prstGeom>
        </p:spPr>
      </p:pic>
      <p:pic>
        <p:nvPicPr>
          <p:cNvPr id="991" name="Graphic 991" descr="Magnifier ic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60900" y="2590800"/>
            <a:ext cx="355600" cy="355600"/>
          </a:xfrm>
          <a:prstGeom prst="rect">
            <a:avLst/>
          </a:prstGeom>
        </p:spPr>
      </p:pic>
    </p:spTree>
    <p:extLst>
      <p:ext uri="{BB962C8B-B14F-4D97-AF65-F5344CB8AC3E}">
        <p14:creationId xmlns:p14="http://schemas.microsoft.com/office/powerpoint/2010/main" val="1485998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 Sources · Deep Research Deep Research, step by step 1 Type a topic, pick Deep Research Example: “prepare me a full 10-K report for Alphabet Inc for 2025” 2 It researches websites You’ll see “Researching websites…” 3 It writes a report This can take a few minutes 4 Review, then Import Keep the report and the sources you want GEMINI NOTEBOOK WORKSHOP · AI+ STUDIO 10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11 / 24</a:t>
            </a:r>
          </a:p>
        </p:txBody>
      </p:sp>
    </p:spTree>
    <p:extLst>
      <p:ext uri="{BB962C8B-B14F-4D97-AF65-F5344CB8AC3E}">
        <p14:creationId xmlns:p14="http://schemas.microsoft.com/office/powerpoint/2010/main" val="1040192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 The chat section Ask, save, reuse  Save to note Pins any answer to your notebook, so you can find it later without scrolling.  Export Send notes made by Gemini to Google Docs or Sheets.  Make it a source Turn notes into sources the notebook can use in future answers. GEMINI NOTEBOOK WORKSHOP · AI+ STUDIO 12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13 / 24</a:t>
            </a:r>
          </a:p>
        </p:txBody>
      </p:sp>
    </p:spTree>
    <p:extLst>
      <p:ext uri="{BB962C8B-B14F-4D97-AF65-F5344CB8AC3E}">
        <p14:creationId xmlns:p14="http://schemas.microsoft.com/office/powerpoint/2010/main" val="806943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 Before Studio: configure the chat Give the chat a job  Default For research and brainstorming: straight answers with citations.  Learning Guide For studying: it asks you questions and works through ideas with you.  Custom Set any role or style (up to 10,000 characters) and answer length. GEMINI NOTEBOOK WORKSHOP · AI+ STUDIO 13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14 / 24</a:t>
            </a:r>
          </a:p>
        </p:txBody>
      </p:sp>
    </p:spTree>
    <p:extLst>
      <p:ext uri="{BB962C8B-B14F-4D97-AF65-F5344CB8AC3E}">
        <p14:creationId xmlns:p14="http://schemas.microsoft.com/office/powerpoint/2010/main" val="1840432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 TRY IT NOW · 3 MINUTES Turn on Learning Guide, then ask:  “Walk me through the cardiac cycle, one step at a time.” Bonus: switch to Custom and type “Act as a physiology TA for first-year students.” Notice how the tone changes."/>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 Step into Studio One click, nine study tools  Every tool takes instructions: “focus on chapter 3”, “for beginners”, “in Spanish”.  Audio and video take a few minutes. Start them first, explore while they cook. GEMINI NOTEBOOK WORKSHOP · AI+ STUDIO 15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16 / 24</a:t>
            </a:r>
          </a:p>
        </p:txBody>
      </p:sp>
    </p:spTree>
    <p:extLst>
      <p:ext uri="{BB962C8B-B14F-4D97-AF65-F5344CB8AC3E}">
        <p14:creationId xmlns:p14="http://schemas.microsoft.com/office/powerpoint/2010/main" val="1316858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 Studio · Audio Overview Your notes, as a podcast Deep Dive Two hosts unpack and connect everything Brief Just the big ideas, fast Critique Expert feedback to improve your work Debate Two sides: pros, cons and conflicts Also pick: language · length · which sources · what to focus on Interactive mode: jump into the episode and ask the hosts questions live. GEMINI NOTEBOOK WORKSHOP · AI+ STUDIO 16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17 / 24</a:t>
            </a:r>
          </a:p>
        </p:txBody>
      </p:sp>
    </p:spTree>
    <p:extLst>
      <p:ext uri="{BB962C8B-B14F-4D97-AF65-F5344CB8AC3E}">
        <p14:creationId xmlns:p14="http://schemas.microsoft.com/office/powerpoint/2010/main" val="1814239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descr="// Studio · Visual tools Watch it, map it, see it  Video Overview NEW Narrated explainer, now also 60-second Short Videos in 80+ languages. Try: mitosis vs. meiosis  Mind Map A clickable map of every topic. Click a bubble to ask about it. Try: types of chemical reactions  Infographic A one-page visual. Pick a style like Scientific or Sketch Note. Try: the Krebs cycle  Slide Deck Auto-built slides. Give feedback per slide, export to PDF or PPTX. Try: the nervous system GEMINI NOTEBOOK WORKSHOP · AI+ STUDIO 17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18 / 24</a:t>
            </a:r>
          </a:p>
        </p:txBody>
      </p:sp>
    </p:spTree>
    <p:extLst>
      <p:ext uri="{BB962C8B-B14F-4D97-AF65-F5344CB8AC3E}">
        <p14:creationId xmlns:p14="http://schemas.microsoft.com/office/powerpoint/2010/main" val="2539661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lide 18" descr="// Studio · Practice Quiz yourself before the prof does FLASHCARD 3 / 20 Which enzyme unzips the DNA double helix? Missed it Got it  Flashcards Pick how many and how hard. Rerun the ones you missed.  Quizzes NEW Multiple choice now. Short answer, multi-select and fill-in-the-blank are on the way.  Ask “How did I do?” NEW The chat looks at your results and tells you what to review.  Make it yours Edit cards or add your own questions. GEMINI NOTEBOOK WORKSHOP · AI+ STUDIO 18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19 / 24</a:t>
            </a:r>
          </a:p>
        </p:txBody>
      </p:sp>
    </p:spTree>
    <p:extLst>
      <p:ext uri="{BB962C8B-B14F-4D97-AF65-F5344CB8AC3E}">
        <p14:creationId xmlns:p14="http://schemas.microsoft.com/office/powerpoint/2010/main" val="1870009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lide 19" descr="// Studio · Reports and tables Reports and tables, done for you  Reports Study guides, briefing docs, or any format you describe. New: interactive learning overview puts a summary, infographic, quiz and flashcards on one page.  Data Table Pulls facts from all your sources into one table. Then hit Export to Sheets. GEMINI NOTEBOOK WORKSHOP · AI+ STUDIO 19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20 / 24</a:t>
            </a:r>
          </a:p>
        </p:txBody>
      </p:sp>
    </p:spTree>
    <p:extLst>
      <p:ext uri="{BB962C8B-B14F-4D97-AF65-F5344CB8AC3E}">
        <p14:creationId xmlns:p14="http://schemas.microsoft.com/office/powerpoint/2010/main" val="22263572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Slide 20" descr="// Share Study together  Share it all Classmates get your sources, chat and Studio outputs.  Chat-only They can ask questions but can’t see or edit your sources.  Copy it NEW Duplicates sources and Studio outputs. Chat and personal notes stay with you.  Your chat history is always private.  UA accounts may only share with UA users. GEMINI NOTEBOOK WORKSHOP · AI+ STUDIO 20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21 / 24</a:t>
            </a:r>
          </a:p>
        </p:txBody>
      </p:sp>
    </p:spTree>
    <p:extLst>
      <p:ext uri="{BB962C8B-B14F-4D97-AF65-F5344CB8AC3E}">
        <p14:creationId xmlns:p14="http://schemas.microsoft.com/office/powerpoint/2010/main" val="1737690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Slide 21" descr="// Before you go Use it responsibly  Check the citations Especially numbers, formulas and anything clinical.  Mind copyright Upload your own notes and open textbooks like OpenStax.  Use your UA NetID Not personal Gmail. Skip personal or health info.  Follow the syllabus Studying with AI is different from writing graded work.  Ask before recording Get the instructor’s OK before recording a lecture.  Treat outputs as study aids AI hosts can oversimplify. Label AI- made visuals. GEMINI NOTEBOOK WORKSHOP · AI+ STUDIO 21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22 / 24</a:t>
            </a:r>
          </a:p>
        </p:txBody>
      </p:sp>
    </p:spTree>
    <p:extLst>
      <p:ext uri="{BB962C8B-B14F-4D97-AF65-F5344CB8AC3E}">
        <p14:creationId xmlns:p14="http://schemas.microsoft.com/office/powerpoint/2010/main" val="206358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Slide 22" descr="// Keep this Prompts to steal CHAT “What are the 5 most likely exam topics here? Cite each one.” CHAT “Quiz me one question at a time. Don’t show the answer until I try.” AUDIO “Focus only on chapter 3. Audience: pre-nursing students.” AUDIO “Debate format: one host argues for X, the other for Y.” FLASHCARDS “20 cards, hard, focus on definitions and mechanisms.” REPORT “Study guide: key terms, 5 practice questions, common mistakes.” GEMINI NOTEBOOK WORKSHOP · AI+ STUDIO 22 / 23"/>
          <p:cNvPicPr>
            <a:picLocks noChangeAspect="1"/>
          </p:cNvPicPr>
          <p:nvPr/>
        </p:nvPicPr>
        <p:blipFill>
          <a:blip r:embed="rId3"/>
          <a:stretch>
            <a:fillRect/>
          </a:stretch>
        </p:blipFill>
        <p:spPr>
          <a:xfrm>
            <a:off x="0" y="0"/>
            <a:ext cx="12192000" cy="6858000"/>
          </a:xfrm>
          <a:prstGeom prst="rect">
            <a:avLst/>
          </a:prstGeom>
        </p:spPr>
      </p:pic>
      <p:pic>
        <p:nvPicPr>
          <p:cNvPr id="901" name="Page number patch"/>
          <p:cNvPicPr>
            <a:picLocks noChangeAspect="1"/>
          </p:cNvPicPr>
          <p:nvPr/>
        </p:nvPicPr>
        <p:blipFill>
          <a:blip r:embed="rId3"/>
          <a:srcRect l="79167" t="90556" r="14583" b="5370"/>
          <a:stretch>
            <a:fillRect/>
          </a:stretch>
        </p:blipFill>
        <p:spPr>
          <a:xfrm>
            <a:off x="10668000" y="6210300"/>
            <a:ext cx="762000" cy="279400"/>
          </a:xfrm>
          <a:prstGeom prst="rect">
            <a:avLst/>
          </a:prstGeom>
        </p:spPr>
      </p:pic>
      <p:sp>
        <p:nvSpPr>
          <p:cNvPr id="902" name="Page number"/>
          <p:cNvSpPr txBox="1"/>
          <p:nvPr/>
        </p:nvSpPr>
        <p:spPr>
          <a:xfrm>
            <a:off x="8839200" y="6235700"/>
            <a:ext cx="2540000" cy="203200"/>
          </a:xfrm>
          <a:prstGeom prst="rect">
            <a:avLst/>
          </a:prstGeom>
          <a:noFill/>
        </p:spPr>
        <p:txBody>
          <a:bodyPr wrap="square" lIns="0" tIns="0" rIns="0" bIns="0" rtlCol="0" anchor="ctr">
            <a:noAutofit/>
          </a:bodyPr>
          <a:lstStyle/>
          <a:p>
            <a:pPr algn="r"/>
            <a:r>
              <a:rPr lang="en-US" sz="1200" b="0" dirty="0">
                <a:solidFill>
                  <a:srgbClr val="8A93B2"/>
                </a:solidFill>
                <a:latin typeface="Consolas"/>
                <a:cs typeface="Consolas"/>
              </a:rPr>
              <a:t>23 / 24</a:t>
            </a:r>
          </a:p>
        </p:txBody>
      </p:sp>
    </p:spTree>
    <p:extLst>
      <p:ext uri="{BB962C8B-B14F-4D97-AF65-F5344CB8AC3E}">
        <p14:creationId xmlns:p14="http://schemas.microsoft.com/office/powerpoint/2010/main" val="2730197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Slide 23" descr="// THANKS FOR JOINING Questions? Ask us anything, now or after the workshop.  Ask Us @AI desk Right outside the AI+ Studio  lbry-aistudio@arizona.edu Book a one-on-one session  notebook.google.com Sign in with your UA NetID FEEDBACK SURVEY Sharaan Thayanithi · AI+ Studio · University of Arizona Libraries"/>
          <p:cNvPicPr>
            <a:picLocks noChangeAspect="1"/>
          </p:cNvPicPr>
          <p:nvPr/>
        </p:nvPicPr>
        <p:blipFill>
          <a:blip r:embed="rId3"/>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FFF0ACE4-DF21-88CE-4FCE-98830F63BB06}"/>
              </a:ext>
            </a:extLst>
          </p:cNvPr>
          <p:cNvPicPr>
            <a:picLocks noChangeAspect="1"/>
          </p:cNvPicPr>
          <p:nvPr/>
        </p:nvPicPr>
        <p:blipFill>
          <a:blip r:embed="rId4"/>
          <a:stretch>
            <a:fillRect/>
          </a:stretch>
        </p:blipFill>
        <p:spPr>
          <a:xfrm>
            <a:off x="9316385" y="2294743"/>
            <a:ext cx="1924987" cy="192498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310200-BD3A-4AA4-925B-5CF5EBAB3076}">
  <we:reference id="wa200010725" version="1.0.0.1" store="en-US" storeType="OMEX"/>
  <we:alternateReferences>
    <we:reference id="WA200010725" version="1.0.0.1" store="" storeType="OMEX"/>
  </we:alternateReferences>
  <we:properties>
    <we:property name="claude.fileId" value="&quot;0d998f92-738d-4c7f-8108-1223afacc0b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637</TotalTime>
  <Words>1987</Words>
  <Application>Microsoft Office PowerPoint</Application>
  <PresentationFormat>Widescreen</PresentationFormat>
  <Paragraphs>167</Paragraphs>
  <Slides>26</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Consolas</vt:lpstr>
      <vt:lpstr>DM Sans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Gemini Notebook Workshop · AI+ Studio (v2)</dc:title>
  <dc:subject/>
  <dc:creator/>
  <cp:lastModifiedBy>Sharaan Thayanithi</cp:lastModifiedBy>
  <cp:revision>6</cp:revision>
  <dcterms:created xsi:type="dcterms:W3CDTF">2026-10-06T06:52:40Z</dcterms:created>
  <dcterms:modified xsi:type="dcterms:W3CDTF">2026-10-16T21:40:26Z</dcterms:modified>
</cp:coreProperties>
</file>